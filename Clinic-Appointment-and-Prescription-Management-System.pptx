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8" r:id="rId10"/>
    <p:sldId id="267" r:id="rId11"/>
    <p:sldId id="266" r:id="rId12"/>
    <p:sldId id="265" r:id="rId13"/>
  </p:sldIdLst>
  <p:sldSz cx="12192000" cy="6858000"/>
  <p:notesSz cx="6858000" cy="12192000"/>
  <p:embeddedFontLst>
    <p:embeddedFont>
      <p:font typeface="Host Grotesk Bold" panose="020B0604020202020204" charset="0"/>
      <p:regular r:id="rId15"/>
    </p:embeddedFont>
    <p:embeddedFont>
      <p:font typeface="Host Grotesk Medium" panose="020B0604020202020204" charset="0"/>
      <p:regular r:id="rId16"/>
    </p:embeddedFont>
    <p:embeddedFont>
      <p:font typeface="Roboto" panose="02000000000000000000" pitchFamily="2" charset="0"/>
      <p:regular r:id="rId17"/>
      <p:bold r:id="rId18"/>
      <p:italic r:id="rId19"/>
      <p:boldItalic r:id="rId20"/>
    </p:embeddedFont>
    <p:embeddedFont>
      <p:font typeface="Roboto Bold" panose="02000000000000000000" pitchFamily="2" charset="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7503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C7E0E7"/>
          </a:solidFill>
          <a:ln/>
        </p:spPr>
      </p:sp>
      <p:sp>
        <p:nvSpPr>
          <p:cNvPr id="3" name="Shape 1"/>
          <p:cNvSpPr/>
          <p:nvPr/>
        </p:nvSpPr>
        <p:spPr>
          <a:xfrm>
            <a:off x="0" y="0"/>
            <a:ext cx="12191695" cy="68580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sv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2.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100000" y="0"/>
                </a:lnTo>
                <a:lnTo>
                  <a:pt x="75000" y="100000"/>
                </a:lnTo>
                <a:lnTo>
                  <a:pt x="0" y="100000"/>
                </a:lnTo>
                <a:close/>
              </a:path>
            </a:pathLst>
          </a:custGeom>
        </p:spPr>
      </p:pic>
      <p:pic>
        <p:nvPicPr>
          <p:cNvPr id="3" name="Image 1" descr="preencoded.png"/>
          <p:cNvPicPr>
            <a:picLocks noChangeAspect="1"/>
          </p:cNvPicPr>
          <p:nvPr/>
        </p:nvPicPr>
        <p:blipFill>
          <a:blip r:embed="rId4"/>
          <a:stretch>
            <a:fillRect/>
          </a:stretch>
        </p:blipFill>
        <p:spPr>
          <a:xfrm>
            <a:off x="94454" y="1089978"/>
            <a:ext cx="3506303" cy="4675188"/>
          </a:xfrm>
          <a:prstGeom prst="rect">
            <a:avLst/>
          </a:prstGeom>
        </p:spPr>
      </p:pic>
      <p:sp>
        <p:nvSpPr>
          <p:cNvPr id="4" name="Text 0"/>
          <p:cNvSpPr/>
          <p:nvPr/>
        </p:nvSpPr>
        <p:spPr>
          <a:xfrm>
            <a:off x="5233360" y="1373684"/>
            <a:ext cx="6296860" cy="177194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2E3C4E"/>
                </a:solidFill>
                <a:latin typeface="Host Grotesk Bold" pitchFamily="34" charset="0"/>
                <a:ea typeface="Host Grotesk Bold" pitchFamily="34" charset="-122"/>
                <a:cs typeface="Host Grotesk Bold" pitchFamily="34" charset="-120"/>
              </a:rPr>
              <a:t>Clinic Appointment &amp; Prescription Management System</a:t>
            </a:r>
            <a:endParaRPr lang="en-US" sz="3700" dirty="0"/>
          </a:p>
        </p:txBody>
      </p:sp>
      <p:sp>
        <p:nvSpPr>
          <p:cNvPr id="5" name="Text 1"/>
          <p:cNvSpPr/>
          <p:nvPr/>
        </p:nvSpPr>
        <p:spPr>
          <a:xfrm>
            <a:off x="5233360" y="3429099"/>
            <a:ext cx="6296860" cy="2055217"/>
          </a:xfrm>
          <a:prstGeom prst="rect">
            <a:avLst/>
          </a:prstGeom>
          <a:noFill/>
          <a:ln/>
        </p:spPr>
        <p:txBody>
          <a:bodyPr wrap="square" lIns="0" tIns="0" rIns="0" bIns="0" rtlCol="0" anchor="t">
            <a:normAutofit/>
          </a:bodyPr>
          <a:lstStyle/>
          <a:p>
            <a:pPr marL="0" indent="0" algn="l">
              <a:lnSpc>
                <a:spcPct val="125000"/>
              </a:lnSpc>
              <a:spcAft>
                <a:spcPts val="1650"/>
              </a:spcAft>
              <a:buNone/>
            </a:pPr>
            <a:r>
              <a:rPr lang="en-US" sz="1450" dirty="0">
                <a:solidFill>
                  <a:srgbClr val="384653"/>
                </a:solidFill>
                <a:latin typeface="Roboto" pitchFamily="34" charset="0"/>
                <a:ea typeface="Roboto" pitchFamily="34" charset="-122"/>
                <a:cs typeface="Roboto" pitchFamily="34" charset="-120"/>
              </a:rPr>
              <a:t>A Java Capstone Project — Streamlining Healthcare Operations Through Digital Innovation</a:t>
            </a:r>
            <a:endParaRPr lang="en-US" sz="1450" dirty="0"/>
          </a:p>
          <a:p>
            <a:pPr marL="0" indent="0" algn="l">
              <a:lnSpc>
                <a:spcPct val="125000"/>
              </a:lnSpc>
              <a:spcAft>
                <a:spcPts val="1650"/>
              </a:spcAft>
              <a:buNone/>
            </a:pPr>
            <a:r>
              <a:rPr lang="en-US" sz="1450" dirty="0">
                <a:solidFill>
                  <a:srgbClr val="384653"/>
                </a:solidFill>
                <a:latin typeface="Roboto" pitchFamily="34" charset="0"/>
                <a:ea typeface="Roboto" pitchFamily="34" charset="-122"/>
                <a:cs typeface="Roboto" pitchFamily="34" charset="-120"/>
              </a:rPr>
              <a:t>2620030312 :-Peddinti Sri Parniths Sai</a:t>
            </a:r>
            <a:endParaRPr lang="en-US" sz="1450" dirty="0"/>
          </a:p>
          <a:p>
            <a:pPr marL="0" indent="0" algn="l">
              <a:lnSpc>
                <a:spcPct val="125000"/>
              </a:lnSpc>
              <a:spcAft>
                <a:spcPts val="1650"/>
              </a:spcAft>
              <a:buNone/>
            </a:pPr>
            <a:r>
              <a:rPr lang="en-US" sz="1450" dirty="0">
                <a:solidFill>
                  <a:srgbClr val="384653"/>
                </a:solidFill>
                <a:latin typeface="Roboto" pitchFamily="34" charset="0"/>
                <a:ea typeface="Roboto" pitchFamily="34" charset="-122"/>
                <a:cs typeface="Roboto" pitchFamily="34" charset="-120"/>
              </a:rPr>
              <a:t>2620030311 :- Neerukonda Chrishma Chowdari</a:t>
            </a:r>
            <a:endParaRPr lang="en-US" sz="1450" dirty="0"/>
          </a:p>
          <a:p>
            <a:pPr marL="0" indent="0" algn="l">
              <a:lnSpc>
                <a:spcPct val="125000"/>
              </a:lnSpc>
              <a:buNone/>
            </a:pPr>
            <a:r>
              <a:rPr lang="en-US" sz="1450" dirty="0">
                <a:solidFill>
                  <a:srgbClr val="384653"/>
                </a:solidFill>
                <a:latin typeface="Roboto" pitchFamily="34" charset="0"/>
                <a:ea typeface="Roboto" pitchFamily="34" charset="-122"/>
                <a:cs typeface="Roboto" pitchFamily="34" charset="-120"/>
              </a:rPr>
              <a:t>Section 2</a:t>
            </a:r>
            <a:endParaRPr lang="en-US" sz="1450" dirty="0"/>
          </a:p>
        </p:txBody>
      </p:sp>
      <p:pic>
        <p:nvPicPr>
          <p:cNvPr id="7" name="Picture 6">
            <a:extLst>
              <a:ext uri="{FF2B5EF4-FFF2-40B4-BE49-F238E27FC236}">
                <a16:creationId xmlns:a16="http://schemas.microsoft.com/office/drawing/2014/main" id="{CBBB8AFB-0F65-98FE-9472-96C45D7B7166}"/>
              </a:ext>
            </a:extLst>
          </p:cNvPr>
          <p:cNvPicPr>
            <a:picLocks noChangeAspect="1"/>
          </p:cNvPicPr>
          <p:nvPr/>
        </p:nvPicPr>
        <p:blipFill>
          <a:blip r:embed="rId5"/>
          <a:stretch>
            <a:fillRect/>
          </a:stretch>
        </p:blipFill>
        <p:spPr>
          <a:xfrm>
            <a:off x="10271594" y="6271209"/>
            <a:ext cx="1920406" cy="586791"/>
          </a:xfrm>
          <a:prstGeom prst="rect">
            <a:avLst/>
          </a:prstGeom>
        </p:spPr>
      </p:pic>
      <p:sp>
        <p:nvSpPr>
          <p:cNvPr id="6" name="TextBox 5">
            <a:extLst>
              <a:ext uri="{FF2B5EF4-FFF2-40B4-BE49-F238E27FC236}">
                <a16:creationId xmlns:a16="http://schemas.microsoft.com/office/drawing/2014/main" id="{B3AA5A6B-5106-1D0A-92B1-6814206EB703}"/>
              </a:ext>
            </a:extLst>
          </p:cNvPr>
          <p:cNvSpPr txBox="1"/>
          <p:nvPr/>
        </p:nvSpPr>
        <p:spPr>
          <a:xfrm>
            <a:off x="5181600" y="294403"/>
            <a:ext cx="3067250" cy="584775"/>
          </a:xfrm>
          <a:prstGeom prst="rect">
            <a:avLst/>
          </a:prstGeom>
          <a:noFill/>
        </p:spPr>
        <p:txBody>
          <a:bodyPr wrap="none" rtlCol="0">
            <a:spAutoFit/>
          </a:bodyPr>
          <a:lstStyle/>
          <a:p>
            <a:r>
              <a:rPr lang="en-US" sz="3200" b="1" dirty="0">
                <a:solidFill>
                  <a:schemeClr val="tx2">
                    <a:lumMod val="75000"/>
                  </a:schemeClr>
                </a:solidFill>
              </a:rPr>
              <a:t>Capstone project</a:t>
            </a:r>
            <a:endParaRPr lang="en-IN" sz="3200" b="1" dirty="0">
              <a:solidFill>
                <a:schemeClr val="tx2">
                  <a:lumMod val="75000"/>
                </a:schemeClr>
              </a:solidFill>
            </a:endParaRPr>
          </a:p>
        </p:txBody>
      </p:sp>
      <p:sp>
        <p:nvSpPr>
          <p:cNvPr id="8" name="Flowchart: Manual Operation 7">
            <a:extLst>
              <a:ext uri="{FF2B5EF4-FFF2-40B4-BE49-F238E27FC236}">
                <a16:creationId xmlns:a16="http://schemas.microsoft.com/office/drawing/2014/main" id="{2FDDBD6E-0D96-F4A4-0CC4-EC8E43352D65}"/>
              </a:ext>
            </a:extLst>
          </p:cNvPr>
          <p:cNvSpPr/>
          <p:nvPr/>
        </p:nvSpPr>
        <p:spPr>
          <a:xfrm rot="20665096">
            <a:off x="1176436" y="2548158"/>
            <a:ext cx="93735" cy="135277"/>
          </a:xfrm>
          <a:prstGeom prst="flowChartManualOperati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12" name="Picture 11">
            <a:extLst>
              <a:ext uri="{FF2B5EF4-FFF2-40B4-BE49-F238E27FC236}">
                <a16:creationId xmlns:a16="http://schemas.microsoft.com/office/drawing/2014/main" id="{C64C9871-5885-FD79-E013-BDB35688D0EB}"/>
              </a:ext>
            </a:extLst>
          </p:cNvPr>
          <p:cNvPicPr>
            <a:picLocks noChangeAspect="1"/>
          </p:cNvPicPr>
          <p:nvPr/>
        </p:nvPicPr>
        <p:blipFill>
          <a:blip r:embed="rId6"/>
          <a:stretch>
            <a:fillRect/>
          </a:stretch>
        </p:blipFill>
        <p:spPr>
          <a:xfrm>
            <a:off x="1" y="10160"/>
            <a:ext cx="1206694" cy="487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100000" y="0"/>
                </a:lnTo>
                <a:lnTo>
                  <a:pt x="75000" y="100000"/>
                </a:lnTo>
                <a:lnTo>
                  <a:pt x="0" y="100000"/>
                </a:lnTo>
                <a:close/>
              </a:path>
            </a:pathLst>
          </a:custGeom>
        </p:spPr>
      </p:pic>
      <p:pic>
        <p:nvPicPr>
          <p:cNvPr id="3" name="Image 1" descr="preencoded.png"/>
          <p:cNvPicPr>
            <a:picLocks noChangeAspect="1"/>
          </p:cNvPicPr>
          <p:nvPr/>
        </p:nvPicPr>
        <p:blipFill>
          <a:blip r:embed="rId4"/>
          <a:stretch>
            <a:fillRect/>
          </a:stretch>
        </p:blipFill>
        <p:spPr>
          <a:xfrm>
            <a:off x="94454" y="1675805"/>
            <a:ext cx="3506303" cy="3506391"/>
          </a:xfrm>
          <a:prstGeom prst="rect">
            <a:avLst/>
          </a:prstGeom>
        </p:spPr>
      </p:pic>
      <p:sp>
        <p:nvSpPr>
          <p:cNvPr id="4" name="Text 0"/>
          <p:cNvSpPr/>
          <p:nvPr/>
        </p:nvSpPr>
        <p:spPr>
          <a:xfrm>
            <a:off x="5233360" y="676870"/>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2E3C4E"/>
                </a:solidFill>
                <a:latin typeface="Host Grotesk Medium" pitchFamily="34" charset="0"/>
                <a:ea typeface="Host Grotesk Medium" pitchFamily="34" charset="-122"/>
                <a:cs typeface="Host Grotesk Medium" pitchFamily="34" charset="-120"/>
              </a:rPr>
              <a:t>1. Introduction and Abstraction</a:t>
            </a:r>
            <a:endParaRPr lang="en-US" sz="3700" dirty="0"/>
          </a:p>
        </p:txBody>
      </p:sp>
      <p:sp>
        <p:nvSpPr>
          <p:cNvPr id="5" name="Text 1"/>
          <p:cNvSpPr/>
          <p:nvPr/>
        </p:nvSpPr>
        <p:spPr>
          <a:xfrm>
            <a:off x="5233360" y="2141637"/>
            <a:ext cx="6296860" cy="4039493"/>
          </a:xfrm>
          <a:prstGeom prst="rect">
            <a:avLst/>
          </a:prstGeom>
          <a:noFill/>
          <a:ln/>
        </p:spPr>
        <p:txBody>
          <a:bodyPr wrap="square" lIns="0" tIns="0" rIns="0" bIns="0" rtlCol="0" anchor="t">
            <a:normAutofit/>
          </a:bodyPr>
          <a:lstStyle/>
          <a:p>
            <a:pPr marL="0" indent="0" algn="l">
              <a:lnSpc>
                <a:spcPct val="125000"/>
              </a:lnSpc>
              <a:spcAft>
                <a:spcPts val="1650"/>
              </a:spcAft>
              <a:buNone/>
            </a:pPr>
            <a:r>
              <a:rPr lang="en-US" sz="1450" dirty="0">
                <a:solidFill>
                  <a:srgbClr val="384653"/>
                </a:solidFill>
                <a:latin typeface="Roboto" pitchFamily="34" charset="0"/>
                <a:ea typeface="Roboto" pitchFamily="34" charset="-122"/>
                <a:cs typeface="Roboto" pitchFamily="34" charset="-120"/>
              </a:rPr>
              <a:t>This </a:t>
            </a:r>
            <a:r>
              <a:rPr lang="en-US" sz="1450" b="1" dirty="0">
                <a:solidFill>
                  <a:srgbClr val="384653"/>
                </a:solidFill>
                <a:latin typeface="Roboto Bold" pitchFamily="34" charset="0"/>
                <a:ea typeface="Roboto Bold" pitchFamily="34" charset="-122"/>
                <a:cs typeface="Roboto Bold" pitchFamily="34" charset="-120"/>
              </a:rPr>
              <a:t>Java-based digital solution</a:t>
            </a:r>
            <a:r>
              <a:rPr lang="en-US" sz="1450" dirty="0">
                <a:solidFill>
                  <a:srgbClr val="384653"/>
                </a:solidFill>
                <a:latin typeface="Roboto" pitchFamily="34" charset="0"/>
                <a:ea typeface="Roboto" pitchFamily="34" charset="-122"/>
                <a:cs typeface="Roboto" pitchFamily="34" charset="-120"/>
              </a:rPr>
              <a:t> is designed to streamline clinic operations by bringing patient registration, appointment scheduling, and prescription management together in one efficient platform.</a:t>
            </a:r>
            <a:endParaRPr lang="en-US" sz="1450" dirty="0"/>
          </a:p>
          <a:p>
            <a:pPr marL="0" indent="0" algn="l">
              <a:lnSpc>
                <a:spcPct val="125000"/>
              </a:lnSpc>
              <a:spcAft>
                <a:spcPts val="1650"/>
              </a:spcAft>
              <a:buNone/>
            </a:pPr>
            <a:r>
              <a:rPr lang="en-US" sz="1450" dirty="0">
                <a:solidFill>
                  <a:srgbClr val="384653"/>
                </a:solidFill>
                <a:latin typeface="Roboto" pitchFamily="34" charset="0"/>
                <a:ea typeface="Roboto" pitchFamily="34" charset="-122"/>
                <a:cs typeface="Roboto" pitchFamily="34" charset="-120"/>
              </a:rPr>
              <a:t>The </a:t>
            </a:r>
            <a:r>
              <a:rPr lang="en-US" sz="1450" b="1" dirty="0">
                <a:solidFill>
                  <a:srgbClr val="384653"/>
                </a:solidFill>
                <a:latin typeface="Roboto Bold" pitchFamily="34" charset="0"/>
                <a:ea typeface="Roboto Bold" pitchFamily="34" charset="-122"/>
                <a:cs typeface="Roboto Bold" pitchFamily="34" charset="-120"/>
              </a:rPr>
              <a:t>Clinic Appointment Module</a:t>
            </a:r>
            <a:r>
              <a:rPr lang="en-US" sz="1450" dirty="0">
                <a:solidFill>
                  <a:srgbClr val="384653"/>
                </a:solidFill>
                <a:latin typeface="Roboto" pitchFamily="34" charset="0"/>
                <a:ea typeface="Roboto" pitchFamily="34" charset="-122"/>
                <a:cs typeface="Roboto" pitchFamily="34" charset="-120"/>
              </a:rPr>
              <a:t> replaces manual appointment books with organized digital scheduling, helping clinics manage patient visits more effectively and reduce confusion in daily operations.</a:t>
            </a:r>
            <a:endParaRPr lang="en-US" sz="1450" dirty="0"/>
          </a:p>
          <a:p>
            <a:pPr marL="0" indent="0" algn="l">
              <a:lnSpc>
                <a:spcPct val="125000"/>
              </a:lnSpc>
              <a:spcAft>
                <a:spcPts val="1650"/>
              </a:spcAft>
              <a:buNone/>
            </a:pPr>
            <a:r>
              <a:rPr lang="en-US" sz="1450" dirty="0">
                <a:solidFill>
                  <a:srgbClr val="384653"/>
                </a:solidFill>
                <a:latin typeface="Roboto" pitchFamily="34" charset="0"/>
                <a:ea typeface="Roboto" pitchFamily="34" charset="-122"/>
                <a:cs typeface="Roboto" pitchFamily="34" charset="-120"/>
              </a:rPr>
              <a:t>The </a:t>
            </a:r>
            <a:r>
              <a:rPr lang="en-US" sz="1450" b="1" dirty="0">
                <a:solidFill>
                  <a:srgbClr val="384653"/>
                </a:solidFill>
                <a:latin typeface="Roboto Bold" pitchFamily="34" charset="0"/>
                <a:ea typeface="Roboto Bold" pitchFamily="34" charset="-122"/>
                <a:cs typeface="Roboto Bold" pitchFamily="34" charset="-120"/>
              </a:rPr>
              <a:t>Prescription Manager Module</a:t>
            </a:r>
            <a:r>
              <a:rPr lang="en-US" sz="1450" dirty="0">
                <a:solidFill>
                  <a:srgbClr val="384653"/>
                </a:solidFill>
                <a:latin typeface="Roboto" pitchFamily="34" charset="0"/>
                <a:ea typeface="Roboto" pitchFamily="34" charset="-122"/>
                <a:cs typeface="Roboto" pitchFamily="34" charset="-120"/>
              </a:rPr>
              <a:t> supports digital prescription creation, secure storage, and easier patient access, making the prescription process faster and more reliable.</a:t>
            </a:r>
            <a:endParaRPr lang="en-US" sz="1450" dirty="0"/>
          </a:p>
          <a:p>
            <a:pPr marL="0" indent="0" algn="l">
              <a:lnSpc>
                <a:spcPct val="125000"/>
              </a:lnSpc>
              <a:buNone/>
            </a:pPr>
            <a:r>
              <a:rPr lang="en-US" sz="1450" dirty="0">
                <a:solidFill>
                  <a:srgbClr val="384653"/>
                </a:solidFill>
                <a:latin typeface="Roboto" pitchFamily="34" charset="0"/>
                <a:ea typeface="Roboto" pitchFamily="34" charset="-122"/>
                <a:cs typeface="Roboto" pitchFamily="34" charset="-120"/>
              </a:rPr>
              <a:t>By combining these capabilities into a </a:t>
            </a:r>
            <a:r>
              <a:rPr lang="en-US" sz="1450" b="1" dirty="0">
                <a:solidFill>
                  <a:srgbClr val="384653"/>
                </a:solidFill>
                <a:latin typeface="Roboto Bold" pitchFamily="34" charset="0"/>
                <a:ea typeface="Roboto Bold" pitchFamily="34" charset="-122"/>
                <a:cs typeface="Roboto Bold" pitchFamily="34" charset="-120"/>
              </a:rPr>
              <a:t>unified platform</a:t>
            </a:r>
            <a:r>
              <a:rPr lang="en-US" sz="1450" dirty="0">
                <a:solidFill>
                  <a:srgbClr val="384653"/>
                </a:solidFill>
                <a:latin typeface="Roboto" pitchFamily="34" charset="0"/>
                <a:ea typeface="Roboto" pitchFamily="34" charset="-122"/>
                <a:cs typeface="Roboto" pitchFamily="34" charset="-120"/>
              </a:rPr>
              <a:t>, the system eliminates paperwork and enables smoother communication between patients and healthcare providers.</a:t>
            </a:r>
            <a:endParaRPr lang="en-US" sz="1450" dirty="0"/>
          </a:p>
        </p:txBody>
      </p:sp>
      <p:pic>
        <p:nvPicPr>
          <p:cNvPr id="7" name="Picture 6">
            <a:extLst>
              <a:ext uri="{FF2B5EF4-FFF2-40B4-BE49-F238E27FC236}">
                <a16:creationId xmlns:a16="http://schemas.microsoft.com/office/drawing/2014/main" id="{1C0403EC-92B4-EEEF-89B5-1A5DEEC690E6}"/>
              </a:ext>
            </a:extLst>
          </p:cNvPr>
          <p:cNvPicPr>
            <a:picLocks noChangeAspect="1"/>
          </p:cNvPicPr>
          <p:nvPr/>
        </p:nvPicPr>
        <p:blipFill>
          <a:blip r:embed="rId5"/>
          <a:stretch>
            <a:fillRect/>
          </a:stretch>
        </p:blipFill>
        <p:spPr>
          <a:xfrm>
            <a:off x="10271594" y="6271209"/>
            <a:ext cx="1920406" cy="586791"/>
          </a:xfrm>
          <a:prstGeom prst="rect">
            <a:avLst/>
          </a:prstGeom>
        </p:spPr>
      </p:pic>
      <p:pic>
        <p:nvPicPr>
          <p:cNvPr id="10" name="Picture 9">
            <a:extLst>
              <a:ext uri="{FF2B5EF4-FFF2-40B4-BE49-F238E27FC236}">
                <a16:creationId xmlns:a16="http://schemas.microsoft.com/office/drawing/2014/main" id="{4CAF6163-D4BF-3B01-C5FE-230F4AAE2916}"/>
              </a:ext>
            </a:extLst>
          </p:cNvPr>
          <p:cNvPicPr>
            <a:picLocks noChangeAspect="1"/>
          </p:cNvPicPr>
          <p:nvPr/>
        </p:nvPicPr>
        <p:blipFill>
          <a:blip r:embed="rId6"/>
          <a:stretch>
            <a:fillRect/>
          </a:stretch>
        </p:blipFill>
        <p:spPr>
          <a:xfrm>
            <a:off x="1" y="10160"/>
            <a:ext cx="1206694" cy="487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4203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E3C4E"/>
                </a:solidFill>
                <a:latin typeface="Host Grotesk Medium" pitchFamily="34" charset="0"/>
                <a:ea typeface="Host Grotesk Medium" pitchFamily="34" charset="-122"/>
                <a:cs typeface="Host Grotesk Medium" pitchFamily="34" charset="-120"/>
              </a:rPr>
              <a:t>2. Project Objectives</a:t>
            </a:r>
            <a:endParaRPr lang="en-US" sz="3700" dirty="0"/>
          </a:p>
        </p:txBody>
      </p:sp>
      <p:sp>
        <p:nvSpPr>
          <p:cNvPr id="3" name="Shape 1"/>
          <p:cNvSpPr/>
          <p:nvPr/>
        </p:nvSpPr>
        <p:spPr>
          <a:xfrm>
            <a:off x="661475" y="2310705"/>
            <a:ext cx="5339820" cy="1649809"/>
          </a:xfrm>
          <a:prstGeom prst="roundRect">
            <a:avLst>
              <a:gd name="adj" fmla="val 4812"/>
            </a:avLst>
          </a:prstGeom>
          <a:solidFill>
            <a:srgbClr val="D9EDF2"/>
          </a:solidFill>
          <a:ln w="6350">
            <a:solidFill>
              <a:srgbClr val="BFD3D8"/>
            </a:solidFill>
            <a:prstDash val="solid"/>
          </a:ln>
        </p:spPr>
      </p:sp>
      <p:sp>
        <p:nvSpPr>
          <p:cNvPr id="4" name="Text 2"/>
          <p:cNvSpPr/>
          <p:nvPr/>
        </p:nvSpPr>
        <p:spPr>
          <a:xfrm>
            <a:off x="856832" y="2506067"/>
            <a:ext cx="4949106" cy="295275"/>
          </a:xfrm>
          <a:prstGeom prst="rect">
            <a:avLst/>
          </a:prstGeom>
          <a:noFill/>
          <a:ln/>
        </p:spPr>
        <p:txBody>
          <a:bodyPr wrap="none" lIns="0" tIns="0" rIns="0" bIns="0" rtlCol="0" anchor="t"/>
          <a:lstStyle/>
          <a:p>
            <a:pPr marL="0" indent="0" algn="l">
              <a:lnSpc>
                <a:spcPct val="104000"/>
              </a:lnSpc>
              <a:buNone/>
            </a:pPr>
            <a:r>
              <a:rPr lang="en-US" sz="1850" dirty="0">
                <a:solidFill>
                  <a:srgbClr val="384653"/>
                </a:solidFill>
                <a:latin typeface="Host Grotesk Medium" pitchFamily="34" charset="0"/>
                <a:ea typeface="Host Grotesk Medium" pitchFamily="34" charset="-122"/>
                <a:cs typeface="Host Grotesk Medium" pitchFamily="34" charset="-120"/>
              </a:rPr>
              <a:t>Appointment System</a:t>
            </a:r>
            <a:endParaRPr lang="en-US" sz="1850" dirty="0"/>
          </a:p>
        </p:txBody>
      </p:sp>
      <p:sp>
        <p:nvSpPr>
          <p:cNvPr id="5" name="Text 3"/>
          <p:cNvSpPr/>
          <p:nvPr/>
        </p:nvSpPr>
        <p:spPr>
          <a:xfrm>
            <a:off x="856832" y="2914749"/>
            <a:ext cx="4949106" cy="850404"/>
          </a:xfrm>
          <a:prstGeom prst="rect">
            <a:avLst/>
          </a:prstGeom>
          <a:noFill/>
          <a:ln/>
        </p:spPr>
        <p:txBody>
          <a:bodyPr wrap="square" lIns="0" tIns="0" rIns="0" bIns="0" rtlCol="0" anchor="t">
            <a:normAutofit/>
          </a:bodyPr>
          <a:lstStyle/>
          <a:p>
            <a:pPr marL="0" indent="0" algn="l">
              <a:lnSpc>
                <a:spcPct val="125000"/>
              </a:lnSpc>
              <a:buNone/>
            </a:pPr>
            <a:r>
              <a:rPr lang="en-US" sz="1450" dirty="0">
                <a:solidFill>
                  <a:srgbClr val="384653"/>
                </a:solidFill>
                <a:latin typeface="Roboto" pitchFamily="34" charset="0"/>
                <a:ea typeface="Roboto" pitchFamily="34" charset="-122"/>
                <a:cs typeface="Roboto" pitchFamily="34" charset="-120"/>
              </a:rPr>
              <a:t>Enable patients to self-book by selecting health problems and available doctors; give doctors instant access to patient information</a:t>
            </a:r>
            <a:endParaRPr lang="en-US" sz="1450" dirty="0"/>
          </a:p>
        </p:txBody>
      </p:sp>
      <p:sp>
        <p:nvSpPr>
          <p:cNvPr id="6" name="Shape 4"/>
          <p:cNvSpPr/>
          <p:nvPr/>
        </p:nvSpPr>
        <p:spPr>
          <a:xfrm>
            <a:off x="6190301" y="2310705"/>
            <a:ext cx="5339919" cy="1649809"/>
          </a:xfrm>
          <a:prstGeom prst="roundRect">
            <a:avLst>
              <a:gd name="adj" fmla="val 4812"/>
            </a:avLst>
          </a:prstGeom>
          <a:solidFill>
            <a:srgbClr val="D9EDF2"/>
          </a:solidFill>
          <a:ln w="6350">
            <a:solidFill>
              <a:srgbClr val="BFD3D8"/>
            </a:solidFill>
            <a:prstDash val="solid"/>
          </a:ln>
        </p:spPr>
      </p:sp>
      <p:sp>
        <p:nvSpPr>
          <p:cNvPr id="7" name="Text 5"/>
          <p:cNvSpPr/>
          <p:nvPr/>
        </p:nvSpPr>
        <p:spPr>
          <a:xfrm>
            <a:off x="6385658" y="2506067"/>
            <a:ext cx="4949205" cy="295275"/>
          </a:xfrm>
          <a:prstGeom prst="rect">
            <a:avLst/>
          </a:prstGeom>
          <a:noFill/>
          <a:ln/>
        </p:spPr>
        <p:txBody>
          <a:bodyPr wrap="none" lIns="0" tIns="0" rIns="0" bIns="0" rtlCol="0" anchor="t"/>
          <a:lstStyle/>
          <a:p>
            <a:pPr marL="0" indent="0" algn="l">
              <a:lnSpc>
                <a:spcPct val="104000"/>
              </a:lnSpc>
              <a:buNone/>
            </a:pPr>
            <a:r>
              <a:rPr lang="en-US" sz="1850" dirty="0">
                <a:solidFill>
                  <a:srgbClr val="384653"/>
                </a:solidFill>
                <a:latin typeface="Host Grotesk Medium" pitchFamily="34" charset="0"/>
                <a:ea typeface="Host Grotesk Medium" pitchFamily="34" charset="-122"/>
                <a:cs typeface="Host Grotesk Medium" pitchFamily="34" charset="-120"/>
              </a:rPr>
              <a:t>Prescription System</a:t>
            </a:r>
            <a:endParaRPr lang="en-US" sz="1850" dirty="0"/>
          </a:p>
        </p:txBody>
      </p:sp>
      <p:sp>
        <p:nvSpPr>
          <p:cNvPr id="8" name="Text 6"/>
          <p:cNvSpPr/>
          <p:nvPr/>
        </p:nvSpPr>
        <p:spPr>
          <a:xfrm>
            <a:off x="6385658" y="2914749"/>
            <a:ext cx="4949205" cy="566936"/>
          </a:xfrm>
          <a:prstGeom prst="rect">
            <a:avLst/>
          </a:prstGeom>
          <a:noFill/>
          <a:ln/>
        </p:spPr>
        <p:txBody>
          <a:bodyPr wrap="square" lIns="0" tIns="0" rIns="0" bIns="0" rtlCol="0" anchor="t">
            <a:normAutofit/>
          </a:bodyPr>
          <a:lstStyle/>
          <a:p>
            <a:pPr marL="0" indent="0" algn="l">
              <a:lnSpc>
                <a:spcPct val="125000"/>
              </a:lnSpc>
              <a:buNone/>
            </a:pPr>
            <a:r>
              <a:rPr lang="en-US" sz="1450" dirty="0">
                <a:solidFill>
                  <a:srgbClr val="384653"/>
                </a:solidFill>
                <a:latin typeface="Roboto" pitchFamily="34" charset="0"/>
                <a:ea typeface="Roboto" pitchFamily="34" charset="-122"/>
                <a:cs typeface="Roboto" pitchFamily="34" charset="-120"/>
              </a:rPr>
              <a:t>Replace handwritten prescriptions with accurate digital records</a:t>
            </a:r>
            <a:endParaRPr lang="en-US" sz="1450" dirty="0"/>
          </a:p>
        </p:txBody>
      </p:sp>
      <p:sp>
        <p:nvSpPr>
          <p:cNvPr id="9" name="Shape 7"/>
          <p:cNvSpPr/>
          <p:nvPr/>
        </p:nvSpPr>
        <p:spPr>
          <a:xfrm>
            <a:off x="661475" y="4149527"/>
            <a:ext cx="5339820" cy="1366341"/>
          </a:xfrm>
          <a:prstGeom prst="roundRect">
            <a:avLst>
              <a:gd name="adj" fmla="val 5810"/>
            </a:avLst>
          </a:prstGeom>
          <a:solidFill>
            <a:srgbClr val="D9EDF2"/>
          </a:solidFill>
          <a:ln w="6350">
            <a:solidFill>
              <a:srgbClr val="BFD3D8"/>
            </a:solidFill>
            <a:prstDash val="solid"/>
          </a:ln>
        </p:spPr>
      </p:sp>
      <p:sp>
        <p:nvSpPr>
          <p:cNvPr id="10" name="Text 8"/>
          <p:cNvSpPr/>
          <p:nvPr/>
        </p:nvSpPr>
        <p:spPr>
          <a:xfrm>
            <a:off x="856832" y="4344888"/>
            <a:ext cx="4949106" cy="295275"/>
          </a:xfrm>
          <a:prstGeom prst="rect">
            <a:avLst/>
          </a:prstGeom>
          <a:noFill/>
          <a:ln/>
        </p:spPr>
        <p:txBody>
          <a:bodyPr wrap="none" lIns="0" tIns="0" rIns="0" bIns="0" rtlCol="0" anchor="t"/>
          <a:lstStyle/>
          <a:p>
            <a:pPr marL="0" indent="0" algn="l">
              <a:lnSpc>
                <a:spcPct val="104000"/>
              </a:lnSpc>
              <a:buNone/>
            </a:pPr>
            <a:r>
              <a:rPr lang="en-US" sz="1850" dirty="0">
                <a:solidFill>
                  <a:srgbClr val="384653"/>
                </a:solidFill>
                <a:latin typeface="Host Grotesk Medium" pitchFamily="34" charset="0"/>
                <a:ea typeface="Host Grotesk Medium" pitchFamily="34" charset="-122"/>
                <a:cs typeface="Host Grotesk Medium" pitchFamily="34" charset="-120"/>
              </a:rPr>
              <a:t>Administrative Relief</a:t>
            </a:r>
            <a:endParaRPr lang="en-US" sz="1850" dirty="0"/>
          </a:p>
        </p:txBody>
      </p:sp>
      <p:sp>
        <p:nvSpPr>
          <p:cNvPr id="11" name="Text 9"/>
          <p:cNvSpPr/>
          <p:nvPr/>
        </p:nvSpPr>
        <p:spPr>
          <a:xfrm>
            <a:off x="856832" y="4753570"/>
            <a:ext cx="4949106" cy="566936"/>
          </a:xfrm>
          <a:prstGeom prst="rect">
            <a:avLst/>
          </a:prstGeom>
          <a:noFill/>
          <a:ln/>
        </p:spPr>
        <p:txBody>
          <a:bodyPr wrap="square" lIns="0" tIns="0" rIns="0" bIns="0" rtlCol="0" anchor="t">
            <a:normAutofit/>
          </a:bodyPr>
          <a:lstStyle/>
          <a:p>
            <a:pPr marL="0" indent="0" algn="l">
              <a:lnSpc>
                <a:spcPct val="125000"/>
              </a:lnSpc>
              <a:buNone/>
            </a:pPr>
            <a:r>
              <a:rPr lang="en-US" sz="1450" dirty="0">
                <a:solidFill>
                  <a:srgbClr val="384653"/>
                </a:solidFill>
                <a:latin typeface="Roboto" pitchFamily="34" charset="0"/>
                <a:ea typeface="Roboto" pitchFamily="34" charset="-122"/>
                <a:cs typeface="Roboto" pitchFamily="34" charset="-120"/>
              </a:rPr>
              <a:t>Reduce staff workload through automation, improving clinic efficiency and patient satisfaction</a:t>
            </a:r>
            <a:endParaRPr lang="en-US" sz="1450" dirty="0"/>
          </a:p>
        </p:txBody>
      </p:sp>
      <p:sp>
        <p:nvSpPr>
          <p:cNvPr id="12" name="Shape 10"/>
          <p:cNvSpPr/>
          <p:nvPr/>
        </p:nvSpPr>
        <p:spPr>
          <a:xfrm>
            <a:off x="6190301" y="4149527"/>
            <a:ext cx="5339919" cy="1366341"/>
          </a:xfrm>
          <a:prstGeom prst="roundRect">
            <a:avLst>
              <a:gd name="adj" fmla="val 5810"/>
            </a:avLst>
          </a:prstGeom>
          <a:solidFill>
            <a:srgbClr val="D9EDF2"/>
          </a:solidFill>
          <a:ln w="6350">
            <a:solidFill>
              <a:srgbClr val="BFD3D8"/>
            </a:solidFill>
            <a:prstDash val="solid"/>
          </a:ln>
        </p:spPr>
      </p:sp>
      <p:sp>
        <p:nvSpPr>
          <p:cNvPr id="13" name="Text 11"/>
          <p:cNvSpPr/>
          <p:nvPr/>
        </p:nvSpPr>
        <p:spPr>
          <a:xfrm>
            <a:off x="6385658" y="4344888"/>
            <a:ext cx="4949205" cy="295275"/>
          </a:xfrm>
          <a:prstGeom prst="rect">
            <a:avLst/>
          </a:prstGeom>
          <a:noFill/>
          <a:ln/>
        </p:spPr>
        <p:txBody>
          <a:bodyPr wrap="none" lIns="0" tIns="0" rIns="0" bIns="0" rtlCol="0" anchor="t"/>
          <a:lstStyle/>
          <a:p>
            <a:pPr marL="0" indent="0" algn="l">
              <a:lnSpc>
                <a:spcPct val="104000"/>
              </a:lnSpc>
              <a:buNone/>
            </a:pPr>
            <a:r>
              <a:rPr lang="en-US" sz="1850" dirty="0">
                <a:solidFill>
                  <a:srgbClr val="384653"/>
                </a:solidFill>
                <a:latin typeface="Host Grotesk Medium" pitchFamily="34" charset="0"/>
                <a:ea typeface="Host Grotesk Medium" pitchFamily="34" charset="-122"/>
                <a:cs typeface="Host Grotesk Medium" pitchFamily="34" charset="-120"/>
              </a:rPr>
              <a:t>Complete Patient Journey</a:t>
            </a:r>
            <a:endParaRPr lang="en-US" sz="1850" dirty="0"/>
          </a:p>
        </p:txBody>
      </p:sp>
      <p:sp>
        <p:nvSpPr>
          <p:cNvPr id="14" name="Text 12"/>
          <p:cNvSpPr/>
          <p:nvPr/>
        </p:nvSpPr>
        <p:spPr>
          <a:xfrm>
            <a:off x="6385658" y="4753570"/>
            <a:ext cx="4949205" cy="566936"/>
          </a:xfrm>
          <a:prstGeom prst="rect">
            <a:avLst/>
          </a:prstGeom>
          <a:noFill/>
          <a:ln/>
        </p:spPr>
        <p:txBody>
          <a:bodyPr wrap="square" lIns="0" tIns="0" rIns="0" bIns="0" rtlCol="0" anchor="t">
            <a:normAutofit/>
          </a:bodyPr>
          <a:lstStyle/>
          <a:p>
            <a:pPr marL="0" indent="0" algn="l">
              <a:lnSpc>
                <a:spcPct val="125000"/>
              </a:lnSpc>
              <a:buNone/>
            </a:pPr>
            <a:r>
              <a:rPr lang="en-US" sz="1450" dirty="0">
                <a:solidFill>
                  <a:srgbClr val="384653"/>
                </a:solidFill>
                <a:latin typeface="Roboto" pitchFamily="34" charset="0"/>
                <a:ea typeface="Roboto" pitchFamily="34" charset="-122"/>
                <a:cs typeface="Roboto" pitchFamily="34" charset="-120"/>
              </a:rPr>
              <a:t>Manage every step — from registration through consultation to prescription — in one integrated system</a:t>
            </a:r>
            <a:endParaRPr lang="en-US" sz="1450" dirty="0"/>
          </a:p>
        </p:txBody>
      </p:sp>
      <p:pic>
        <p:nvPicPr>
          <p:cNvPr id="16" name="Picture 15">
            <a:extLst>
              <a:ext uri="{FF2B5EF4-FFF2-40B4-BE49-F238E27FC236}">
                <a16:creationId xmlns:a16="http://schemas.microsoft.com/office/drawing/2014/main" id="{1E7B84EA-FDDC-04C0-1D50-508FEBD7EA08}"/>
              </a:ext>
            </a:extLst>
          </p:cNvPr>
          <p:cNvPicPr>
            <a:picLocks noChangeAspect="1"/>
          </p:cNvPicPr>
          <p:nvPr/>
        </p:nvPicPr>
        <p:blipFill>
          <a:blip r:embed="rId3"/>
          <a:stretch>
            <a:fillRect/>
          </a:stretch>
        </p:blipFill>
        <p:spPr>
          <a:xfrm>
            <a:off x="10271594" y="6271209"/>
            <a:ext cx="1920406" cy="586791"/>
          </a:xfrm>
          <a:prstGeom prst="rect">
            <a:avLst/>
          </a:prstGeom>
        </p:spPr>
      </p:pic>
      <p:pic>
        <p:nvPicPr>
          <p:cNvPr id="19" name="Picture 18">
            <a:extLst>
              <a:ext uri="{FF2B5EF4-FFF2-40B4-BE49-F238E27FC236}">
                <a16:creationId xmlns:a16="http://schemas.microsoft.com/office/drawing/2014/main" id="{36D7900F-F83D-A092-AB1A-E2CFAAE77EE5}"/>
              </a:ext>
            </a:extLst>
          </p:cNvPr>
          <p:cNvPicPr>
            <a:picLocks noChangeAspect="1"/>
          </p:cNvPicPr>
          <p:nvPr/>
        </p:nvPicPr>
        <p:blipFill>
          <a:blip r:embed="rId4"/>
          <a:stretch>
            <a:fillRect/>
          </a:stretch>
        </p:blipFill>
        <p:spPr>
          <a:xfrm>
            <a:off x="1" y="0"/>
            <a:ext cx="1206694" cy="487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66738"/>
            <a:ext cx="10868745" cy="523379"/>
          </a:xfrm>
          <a:prstGeom prst="rect">
            <a:avLst/>
          </a:prstGeom>
          <a:noFill/>
          <a:ln/>
        </p:spPr>
        <p:txBody>
          <a:bodyPr wrap="none" lIns="0" tIns="0" rIns="0" bIns="0" rtlCol="0" anchor="t"/>
          <a:lstStyle/>
          <a:p>
            <a:pPr marL="0" indent="0" algn="l">
              <a:lnSpc>
                <a:spcPct val="104000"/>
              </a:lnSpc>
              <a:buNone/>
            </a:pPr>
            <a:r>
              <a:rPr lang="en-US" sz="3250" dirty="0">
                <a:solidFill>
                  <a:srgbClr val="2E3C4E"/>
                </a:solidFill>
                <a:latin typeface="Host Grotesk Medium" pitchFamily="34" charset="0"/>
                <a:ea typeface="Host Grotesk Medium" pitchFamily="34" charset="-122"/>
                <a:cs typeface="Host Grotesk Medium" pitchFamily="34" charset="-120"/>
              </a:rPr>
              <a:t>Clinic Appointment System</a:t>
            </a:r>
            <a:endParaRPr lang="en-US" sz="3250" dirty="0"/>
          </a:p>
        </p:txBody>
      </p:sp>
      <p:sp>
        <p:nvSpPr>
          <p:cNvPr id="3" name="Shape 1"/>
          <p:cNvSpPr/>
          <p:nvPr/>
        </p:nvSpPr>
        <p:spPr>
          <a:xfrm>
            <a:off x="6086323" y="1386780"/>
            <a:ext cx="19050" cy="4904482"/>
          </a:xfrm>
          <a:prstGeom prst="roundRect">
            <a:avLst>
              <a:gd name="adj" fmla="val 49999"/>
            </a:avLst>
          </a:prstGeom>
          <a:solidFill>
            <a:srgbClr val="BFD3D8"/>
          </a:solidFill>
          <a:ln/>
        </p:spPr>
      </p:sp>
      <p:sp>
        <p:nvSpPr>
          <p:cNvPr id="4" name="Shape 2"/>
          <p:cNvSpPr/>
          <p:nvPr/>
        </p:nvSpPr>
        <p:spPr>
          <a:xfrm>
            <a:off x="5424203" y="1565573"/>
            <a:ext cx="502332" cy="19050"/>
          </a:xfrm>
          <a:prstGeom prst="roundRect">
            <a:avLst>
              <a:gd name="adj" fmla="val 49999"/>
            </a:avLst>
          </a:prstGeom>
          <a:solidFill>
            <a:srgbClr val="BFD3D8"/>
          </a:solidFill>
          <a:ln/>
        </p:spPr>
      </p:sp>
      <p:sp>
        <p:nvSpPr>
          <p:cNvPr id="5" name="Shape 3"/>
          <p:cNvSpPr/>
          <p:nvPr/>
        </p:nvSpPr>
        <p:spPr>
          <a:xfrm>
            <a:off x="5907485" y="1386780"/>
            <a:ext cx="376724" cy="376734"/>
          </a:xfrm>
          <a:prstGeom prst="roundRect">
            <a:avLst>
              <a:gd name="adj" fmla="val 18670"/>
            </a:avLst>
          </a:prstGeom>
          <a:solidFill>
            <a:srgbClr val="D9EDF2"/>
          </a:solidFill>
          <a:ln w="6350">
            <a:solidFill>
              <a:srgbClr val="BFD3D8"/>
            </a:solidFill>
            <a:prstDash val="solid"/>
          </a:ln>
        </p:spPr>
      </p:sp>
      <p:sp>
        <p:nvSpPr>
          <p:cNvPr id="6" name="Text 4"/>
          <p:cNvSpPr/>
          <p:nvPr/>
        </p:nvSpPr>
        <p:spPr>
          <a:xfrm>
            <a:off x="5970240" y="1418134"/>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384653"/>
                </a:solidFill>
                <a:latin typeface="Host Grotesk Medium" pitchFamily="34" charset="0"/>
                <a:ea typeface="Host Grotesk Medium" pitchFamily="34" charset="-122"/>
                <a:cs typeface="Host Grotesk Medium" pitchFamily="34" charset="-120"/>
              </a:rPr>
              <a:t>1</a:t>
            </a:r>
            <a:endParaRPr lang="en-US" sz="1950" dirty="0"/>
          </a:p>
        </p:txBody>
      </p:sp>
      <p:sp>
        <p:nvSpPr>
          <p:cNvPr id="7" name="Text 5"/>
          <p:cNvSpPr/>
          <p:nvPr/>
        </p:nvSpPr>
        <p:spPr>
          <a:xfrm>
            <a:off x="661475" y="1444327"/>
            <a:ext cx="4597087" cy="261640"/>
          </a:xfrm>
          <a:prstGeom prst="rect">
            <a:avLst/>
          </a:prstGeom>
          <a:noFill/>
          <a:ln/>
        </p:spPr>
        <p:txBody>
          <a:bodyPr wrap="none" lIns="0" tIns="0" rIns="0" bIns="0" rtlCol="0" anchor="t"/>
          <a:lstStyle/>
          <a:p>
            <a:pPr marL="0" indent="0" algn="r">
              <a:lnSpc>
                <a:spcPct val="104000"/>
              </a:lnSpc>
              <a:buNone/>
            </a:pPr>
            <a:r>
              <a:rPr lang="en-US" sz="1600" dirty="0">
                <a:solidFill>
                  <a:srgbClr val="384653"/>
                </a:solidFill>
                <a:latin typeface="Host Grotesk Medium" pitchFamily="34" charset="0"/>
                <a:ea typeface="Host Grotesk Medium" pitchFamily="34" charset="-122"/>
                <a:cs typeface="Host Grotesk Medium" pitchFamily="34" charset="-120"/>
              </a:rPr>
              <a:t>Patient Registration</a:t>
            </a:r>
            <a:endParaRPr lang="en-US" sz="1600" dirty="0"/>
          </a:p>
        </p:txBody>
      </p:sp>
      <p:sp>
        <p:nvSpPr>
          <p:cNvPr id="8" name="Text 6"/>
          <p:cNvSpPr/>
          <p:nvPr/>
        </p:nvSpPr>
        <p:spPr>
          <a:xfrm>
            <a:off x="661475" y="1794966"/>
            <a:ext cx="4597087" cy="473670"/>
          </a:xfrm>
          <a:prstGeom prst="rect">
            <a:avLst/>
          </a:prstGeom>
          <a:noFill/>
          <a:ln/>
        </p:spPr>
        <p:txBody>
          <a:bodyPr wrap="square" lIns="0" tIns="0" rIns="0" bIns="0" rtlCol="0" anchor="t">
            <a:normAutofit/>
          </a:bodyPr>
          <a:lstStyle/>
          <a:p>
            <a:pPr marL="0" indent="0" algn="r">
              <a:lnSpc>
                <a:spcPct val="118000"/>
              </a:lnSpc>
              <a:buNone/>
            </a:pPr>
            <a:r>
              <a:rPr lang="en-US" sz="1300" dirty="0">
                <a:solidFill>
                  <a:srgbClr val="384653"/>
                </a:solidFill>
                <a:latin typeface="Roboto" pitchFamily="34" charset="0"/>
                <a:ea typeface="Roboto" pitchFamily="34" charset="-122"/>
                <a:cs typeface="Roboto" pitchFamily="34" charset="-120"/>
              </a:rPr>
              <a:t>Enter personal &amp; health information, select health problems, create unique profile</a:t>
            </a:r>
            <a:endParaRPr lang="en-US" sz="1300" dirty="0"/>
          </a:p>
        </p:txBody>
      </p:sp>
      <p:sp>
        <p:nvSpPr>
          <p:cNvPr id="9" name="Shape 7"/>
          <p:cNvSpPr/>
          <p:nvPr/>
        </p:nvSpPr>
        <p:spPr>
          <a:xfrm>
            <a:off x="6265160" y="2532063"/>
            <a:ext cx="502332" cy="19050"/>
          </a:xfrm>
          <a:prstGeom prst="roundRect">
            <a:avLst>
              <a:gd name="adj" fmla="val 49999"/>
            </a:avLst>
          </a:prstGeom>
          <a:solidFill>
            <a:srgbClr val="BFD3D8"/>
          </a:solidFill>
          <a:ln/>
        </p:spPr>
      </p:sp>
      <p:sp>
        <p:nvSpPr>
          <p:cNvPr id="10" name="Shape 8"/>
          <p:cNvSpPr/>
          <p:nvPr/>
        </p:nvSpPr>
        <p:spPr>
          <a:xfrm>
            <a:off x="5907485" y="2353270"/>
            <a:ext cx="376724" cy="376734"/>
          </a:xfrm>
          <a:prstGeom prst="roundRect">
            <a:avLst>
              <a:gd name="adj" fmla="val 18670"/>
            </a:avLst>
          </a:prstGeom>
          <a:solidFill>
            <a:srgbClr val="D9EDF2"/>
          </a:solidFill>
          <a:ln w="6350">
            <a:solidFill>
              <a:srgbClr val="BFD3D8"/>
            </a:solidFill>
            <a:prstDash val="solid"/>
          </a:ln>
        </p:spPr>
      </p:sp>
      <p:sp>
        <p:nvSpPr>
          <p:cNvPr id="11" name="Text 9"/>
          <p:cNvSpPr/>
          <p:nvPr/>
        </p:nvSpPr>
        <p:spPr>
          <a:xfrm>
            <a:off x="5970240" y="2384623"/>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384653"/>
                </a:solidFill>
                <a:latin typeface="Host Grotesk Medium" pitchFamily="34" charset="0"/>
                <a:ea typeface="Host Grotesk Medium" pitchFamily="34" charset="-122"/>
                <a:cs typeface="Host Grotesk Medium" pitchFamily="34" charset="-120"/>
              </a:rPr>
              <a:t>2</a:t>
            </a:r>
            <a:endParaRPr lang="en-US" sz="1950" dirty="0"/>
          </a:p>
        </p:txBody>
      </p:sp>
      <p:sp>
        <p:nvSpPr>
          <p:cNvPr id="12" name="Text 10"/>
          <p:cNvSpPr/>
          <p:nvPr/>
        </p:nvSpPr>
        <p:spPr>
          <a:xfrm>
            <a:off x="6933134" y="2410817"/>
            <a:ext cx="4597087" cy="261640"/>
          </a:xfrm>
          <a:prstGeom prst="rect">
            <a:avLst/>
          </a:prstGeom>
          <a:noFill/>
          <a:ln/>
        </p:spPr>
        <p:txBody>
          <a:bodyPr wrap="none" lIns="0" tIns="0" rIns="0" bIns="0" rtlCol="0" anchor="t"/>
          <a:lstStyle/>
          <a:p>
            <a:pPr marL="0" indent="0" algn="l">
              <a:lnSpc>
                <a:spcPct val="104000"/>
              </a:lnSpc>
              <a:buNone/>
            </a:pPr>
            <a:r>
              <a:rPr lang="en-US" sz="1600" dirty="0">
                <a:solidFill>
                  <a:srgbClr val="384653"/>
                </a:solidFill>
                <a:latin typeface="Host Grotesk Medium" pitchFamily="34" charset="0"/>
                <a:ea typeface="Host Grotesk Medium" pitchFamily="34" charset="-122"/>
                <a:cs typeface="Host Grotesk Medium" pitchFamily="34" charset="-120"/>
              </a:rPr>
              <a:t>Time Slot Booking</a:t>
            </a:r>
            <a:endParaRPr lang="en-US" sz="1600" dirty="0"/>
          </a:p>
        </p:txBody>
      </p:sp>
      <p:sp>
        <p:nvSpPr>
          <p:cNvPr id="13" name="Text 11"/>
          <p:cNvSpPr/>
          <p:nvPr/>
        </p:nvSpPr>
        <p:spPr>
          <a:xfrm>
            <a:off x="6933134" y="2761456"/>
            <a:ext cx="4597087" cy="473670"/>
          </a:xfrm>
          <a:prstGeom prst="rect">
            <a:avLst/>
          </a:prstGeom>
          <a:noFill/>
          <a:ln/>
        </p:spPr>
        <p:txBody>
          <a:bodyPr wrap="square" lIns="0" tIns="0" rIns="0" bIns="0" rtlCol="0" anchor="t">
            <a:normAutofit/>
          </a:bodyPr>
          <a:lstStyle/>
          <a:p>
            <a:pPr marL="0" indent="0" algn="l">
              <a:lnSpc>
                <a:spcPct val="118000"/>
              </a:lnSpc>
              <a:buNone/>
            </a:pPr>
            <a:r>
              <a:rPr lang="en-US" sz="1300" dirty="0">
                <a:solidFill>
                  <a:srgbClr val="384653"/>
                </a:solidFill>
                <a:latin typeface="Roboto" pitchFamily="34" charset="0"/>
                <a:ea typeface="Roboto" pitchFamily="34" charset="-122"/>
                <a:cs typeface="Roboto" pitchFamily="34" charset="-120"/>
              </a:rPr>
              <a:t>View available slots based on doctor schedules and confirm appointment</a:t>
            </a:r>
            <a:endParaRPr lang="en-US" sz="1300" dirty="0"/>
          </a:p>
        </p:txBody>
      </p:sp>
      <p:sp>
        <p:nvSpPr>
          <p:cNvPr id="14" name="Shape 12"/>
          <p:cNvSpPr/>
          <p:nvPr/>
        </p:nvSpPr>
        <p:spPr>
          <a:xfrm>
            <a:off x="5424203" y="3378994"/>
            <a:ext cx="502332" cy="19050"/>
          </a:xfrm>
          <a:prstGeom prst="roundRect">
            <a:avLst>
              <a:gd name="adj" fmla="val 49999"/>
            </a:avLst>
          </a:prstGeom>
          <a:solidFill>
            <a:srgbClr val="BFD3D8"/>
          </a:solidFill>
          <a:ln/>
        </p:spPr>
      </p:sp>
      <p:sp>
        <p:nvSpPr>
          <p:cNvPr id="15" name="Shape 13"/>
          <p:cNvSpPr/>
          <p:nvPr/>
        </p:nvSpPr>
        <p:spPr>
          <a:xfrm>
            <a:off x="5907485" y="3200202"/>
            <a:ext cx="376724" cy="376734"/>
          </a:xfrm>
          <a:prstGeom prst="roundRect">
            <a:avLst>
              <a:gd name="adj" fmla="val 18670"/>
            </a:avLst>
          </a:prstGeom>
          <a:solidFill>
            <a:srgbClr val="D9EDF2"/>
          </a:solidFill>
          <a:ln w="6350">
            <a:solidFill>
              <a:srgbClr val="BFD3D8"/>
            </a:solidFill>
            <a:prstDash val="solid"/>
          </a:ln>
        </p:spPr>
      </p:sp>
      <p:sp>
        <p:nvSpPr>
          <p:cNvPr id="16" name="Text 14"/>
          <p:cNvSpPr/>
          <p:nvPr/>
        </p:nvSpPr>
        <p:spPr>
          <a:xfrm>
            <a:off x="5970240" y="3231555"/>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384653"/>
                </a:solidFill>
                <a:latin typeface="Host Grotesk Medium" pitchFamily="34" charset="0"/>
                <a:ea typeface="Host Grotesk Medium" pitchFamily="34" charset="-122"/>
                <a:cs typeface="Host Grotesk Medium" pitchFamily="34" charset="-120"/>
              </a:rPr>
              <a:t>3</a:t>
            </a:r>
            <a:endParaRPr lang="en-US" sz="1950" dirty="0"/>
          </a:p>
        </p:txBody>
      </p:sp>
      <p:sp>
        <p:nvSpPr>
          <p:cNvPr id="17" name="Text 15"/>
          <p:cNvSpPr/>
          <p:nvPr/>
        </p:nvSpPr>
        <p:spPr>
          <a:xfrm>
            <a:off x="661475" y="3257748"/>
            <a:ext cx="4597087" cy="261640"/>
          </a:xfrm>
          <a:prstGeom prst="rect">
            <a:avLst/>
          </a:prstGeom>
          <a:noFill/>
          <a:ln/>
        </p:spPr>
        <p:txBody>
          <a:bodyPr wrap="none" lIns="0" tIns="0" rIns="0" bIns="0" rtlCol="0" anchor="t"/>
          <a:lstStyle/>
          <a:p>
            <a:pPr marL="0" indent="0" algn="r">
              <a:lnSpc>
                <a:spcPct val="104000"/>
              </a:lnSpc>
              <a:buNone/>
            </a:pPr>
            <a:r>
              <a:rPr lang="en-US" sz="1600" dirty="0">
                <a:solidFill>
                  <a:srgbClr val="384653"/>
                </a:solidFill>
                <a:latin typeface="Host Grotesk Medium" pitchFamily="34" charset="0"/>
                <a:ea typeface="Host Grotesk Medium" pitchFamily="34" charset="-122"/>
                <a:cs typeface="Host Grotesk Medium" pitchFamily="34" charset="-120"/>
              </a:rPr>
              <a:t>Doctor Selection</a:t>
            </a:r>
            <a:endParaRPr lang="en-US" sz="1600" dirty="0"/>
          </a:p>
        </p:txBody>
      </p:sp>
      <p:sp>
        <p:nvSpPr>
          <p:cNvPr id="18" name="Text 16"/>
          <p:cNvSpPr/>
          <p:nvPr/>
        </p:nvSpPr>
        <p:spPr>
          <a:xfrm>
            <a:off x="661475" y="3608387"/>
            <a:ext cx="4597087" cy="473670"/>
          </a:xfrm>
          <a:prstGeom prst="rect">
            <a:avLst/>
          </a:prstGeom>
          <a:noFill/>
          <a:ln/>
        </p:spPr>
        <p:txBody>
          <a:bodyPr wrap="square" lIns="0" tIns="0" rIns="0" bIns="0" rtlCol="0" anchor="t">
            <a:normAutofit/>
          </a:bodyPr>
          <a:lstStyle/>
          <a:p>
            <a:pPr marL="0" indent="0" algn="r">
              <a:lnSpc>
                <a:spcPct val="118000"/>
              </a:lnSpc>
              <a:buNone/>
            </a:pPr>
            <a:r>
              <a:rPr lang="en-US" sz="1300" dirty="0">
                <a:solidFill>
                  <a:srgbClr val="384653"/>
                </a:solidFill>
                <a:latin typeface="Roboto" pitchFamily="34" charset="0"/>
                <a:ea typeface="Roboto" pitchFamily="34" charset="-122"/>
                <a:cs typeface="Roboto" pitchFamily="34" charset="-120"/>
              </a:rPr>
              <a:t>System displays doctors specialized in the patient's selected medical field</a:t>
            </a:r>
            <a:endParaRPr lang="en-US" sz="1300" dirty="0"/>
          </a:p>
        </p:txBody>
      </p:sp>
      <p:sp>
        <p:nvSpPr>
          <p:cNvPr id="19" name="Shape 17"/>
          <p:cNvSpPr/>
          <p:nvPr/>
        </p:nvSpPr>
        <p:spPr>
          <a:xfrm>
            <a:off x="6265160" y="4225925"/>
            <a:ext cx="502332" cy="19050"/>
          </a:xfrm>
          <a:prstGeom prst="roundRect">
            <a:avLst>
              <a:gd name="adj" fmla="val 49999"/>
            </a:avLst>
          </a:prstGeom>
          <a:solidFill>
            <a:srgbClr val="BFD3D8"/>
          </a:solidFill>
          <a:ln/>
        </p:spPr>
      </p:sp>
      <p:sp>
        <p:nvSpPr>
          <p:cNvPr id="20" name="Shape 18"/>
          <p:cNvSpPr/>
          <p:nvPr/>
        </p:nvSpPr>
        <p:spPr>
          <a:xfrm>
            <a:off x="5907485" y="4047133"/>
            <a:ext cx="376724" cy="376734"/>
          </a:xfrm>
          <a:prstGeom prst="roundRect">
            <a:avLst>
              <a:gd name="adj" fmla="val 18670"/>
            </a:avLst>
          </a:prstGeom>
          <a:solidFill>
            <a:srgbClr val="D9EDF2"/>
          </a:solidFill>
          <a:ln w="6350">
            <a:solidFill>
              <a:srgbClr val="BFD3D8"/>
            </a:solidFill>
            <a:prstDash val="solid"/>
          </a:ln>
        </p:spPr>
      </p:sp>
      <p:sp>
        <p:nvSpPr>
          <p:cNvPr id="21" name="Text 19"/>
          <p:cNvSpPr/>
          <p:nvPr/>
        </p:nvSpPr>
        <p:spPr>
          <a:xfrm>
            <a:off x="5970240" y="4078486"/>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384653"/>
                </a:solidFill>
                <a:latin typeface="Host Grotesk Medium" pitchFamily="34" charset="0"/>
                <a:ea typeface="Host Grotesk Medium" pitchFamily="34" charset="-122"/>
                <a:cs typeface="Host Grotesk Medium" pitchFamily="34" charset="-120"/>
              </a:rPr>
              <a:t>4</a:t>
            </a:r>
            <a:endParaRPr lang="en-US" sz="1950" dirty="0"/>
          </a:p>
        </p:txBody>
      </p:sp>
      <p:sp>
        <p:nvSpPr>
          <p:cNvPr id="22" name="Text 20"/>
          <p:cNvSpPr/>
          <p:nvPr/>
        </p:nvSpPr>
        <p:spPr>
          <a:xfrm>
            <a:off x="6933134" y="4104680"/>
            <a:ext cx="4597087" cy="261640"/>
          </a:xfrm>
          <a:prstGeom prst="rect">
            <a:avLst/>
          </a:prstGeom>
          <a:noFill/>
          <a:ln/>
        </p:spPr>
        <p:txBody>
          <a:bodyPr wrap="none" lIns="0" tIns="0" rIns="0" bIns="0" rtlCol="0" anchor="t"/>
          <a:lstStyle/>
          <a:p>
            <a:pPr marL="0" indent="0" algn="l">
              <a:lnSpc>
                <a:spcPct val="104000"/>
              </a:lnSpc>
              <a:buNone/>
            </a:pPr>
            <a:r>
              <a:rPr lang="en-US" sz="1600" dirty="0">
                <a:solidFill>
                  <a:srgbClr val="384653"/>
                </a:solidFill>
                <a:latin typeface="Host Grotesk Medium" pitchFamily="34" charset="0"/>
                <a:ea typeface="Host Grotesk Medium" pitchFamily="34" charset="-122"/>
                <a:cs typeface="Host Grotesk Medium" pitchFamily="34" charset="-120"/>
              </a:rPr>
              <a:t>Instant Confirmation</a:t>
            </a:r>
            <a:endParaRPr lang="en-US" sz="1600" dirty="0"/>
          </a:p>
        </p:txBody>
      </p:sp>
      <p:sp>
        <p:nvSpPr>
          <p:cNvPr id="23" name="Text 21"/>
          <p:cNvSpPr/>
          <p:nvPr/>
        </p:nvSpPr>
        <p:spPr>
          <a:xfrm>
            <a:off x="6933134" y="4455319"/>
            <a:ext cx="4597087" cy="473670"/>
          </a:xfrm>
          <a:prstGeom prst="rect">
            <a:avLst/>
          </a:prstGeom>
          <a:noFill/>
          <a:ln/>
        </p:spPr>
        <p:txBody>
          <a:bodyPr wrap="square" lIns="0" tIns="0" rIns="0" bIns="0" rtlCol="0" anchor="t">
            <a:normAutofit/>
          </a:bodyPr>
          <a:lstStyle/>
          <a:p>
            <a:pPr marL="0" indent="0" algn="l">
              <a:lnSpc>
                <a:spcPct val="118000"/>
              </a:lnSpc>
              <a:buNone/>
            </a:pPr>
            <a:r>
              <a:rPr lang="en-US" sz="1300" dirty="0">
                <a:solidFill>
                  <a:srgbClr val="384653"/>
                </a:solidFill>
                <a:latin typeface="Roboto" pitchFamily="34" charset="0"/>
                <a:ea typeface="Roboto" pitchFamily="34" charset="-122"/>
                <a:cs typeface="Roboto" pitchFamily="34" charset="-120"/>
              </a:rPr>
              <a:t>Receive digital appointment card with date, time, doctor name, and clinic details</a:t>
            </a:r>
            <a:endParaRPr lang="en-US" sz="1300" dirty="0"/>
          </a:p>
        </p:txBody>
      </p:sp>
      <p:sp>
        <p:nvSpPr>
          <p:cNvPr id="24" name="Shape 22"/>
          <p:cNvSpPr/>
          <p:nvPr/>
        </p:nvSpPr>
        <p:spPr>
          <a:xfrm>
            <a:off x="5424203" y="5072856"/>
            <a:ext cx="502332" cy="19050"/>
          </a:xfrm>
          <a:prstGeom prst="roundRect">
            <a:avLst>
              <a:gd name="adj" fmla="val 49999"/>
            </a:avLst>
          </a:prstGeom>
          <a:solidFill>
            <a:srgbClr val="BFD3D8"/>
          </a:solidFill>
          <a:ln/>
        </p:spPr>
      </p:sp>
      <p:sp>
        <p:nvSpPr>
          <p:cNvPr id="25" name="Shape 23"/>
          <p:cNvSpPr/>
          <p:nvPr/>
        </p:nvSpPr>
        <p:spPr>
          <a:xfrm>
            <a:off x="5907485" y="4894064"/>
            <a:ext cx="376724" cy="376734"/>
          </a:xfrm>
          <a:prstGeom prst="roundRect">
            <a:avLst>
              <a:gd name="adj" fmla="val 18670"/>
            </a:avLst>
          </a:prstGeom>
          <a:solidFill>
            <a:srgbClr val="D9EDF2"/>
          </a:solidFill>
          <a:ln w="6350">
            <a:solidFill>
              <a:srgbClr val="BFD3D8"/>
            </a:solidFill>
            <a:prstDash val="solid"/>
          </a:ln>
        </p:spPr>
      </p:sp>
      <p:sp>
        <p:nvSpPr>
          <p:cNvPr id="26" name="Text 24"/>
          <p:cNvSpPr/>
          <p:nvPr/>
        </p:nvSpPr>
        <p:spPr>
          <a:xfrm>
            <a:off x="5970240" y="4925417"/>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384653"/>
                </a:solidFill>
                <a:latin typeface="Host Grotesk Medium" pitchFamily="34" charset="0"/>
                <a:ea typeface="Host Grotesk Medium" pitchFamily="34" charset="-122"/>
                <a:cs typeface="Host Grotesk Medium" pitchFamily="34" charset="-120"/>
              </a:rPr>
              <a:t>5</a:t>
            </a:r>
            <a:endParaRPr lang="en-US" sz="1950" dirty="0"/>
          </a:p>
        </p:txBody>
      </p:sp>
      <p:sp>
        <p:nvSpPr>
          <p:cNvPr id="27" name="Text 25"/>
          <p:cNvSpPr/>
          <p:nvPr/>
        </p:nvSpPr>
        <p:spPr>
          <a:xfrm>
            <a:off x="661475" y="4951611"/>
            <a:ext cx="4597087" cy="261640"/>
          </a:xfrm>
          <a:prstGeom prst="rect">
            <a:avLst/>
          </a:prstGeom>
          <a:noFill/>
          <a:ln/>
        </p:spPr>
        <p:txBody>
          <a:bodyPr wrap="none" lIns="0" tIns="0" rIns="0" bIns="0" rtlCol="0" anchor="t"/>
          <a:lstStyle/>
          <a:p>
            <a:pPr marL="0" indent="0" algn="r">
              <a:lnSpc>
                <a:spcPct val="104000"/>
              </a:lnSpc>
              <a:buNone/>
            </a:pPr>
            <a:r>
              <a:rPr lang="en-US" sz="1600" dirty="0">
                <a:solidFill>
                  <a:srgbClr val="384653"/>
                </a:solidFill>
                <a:latin typeface="Host Grotesk Medium" pitchFamily="34" charset="0"/>
                <a:ea typeface="Host Grotesk Medium" pitchFamily="34" charset="-122"/>
                <a:cs typeface="Host Grotesk Medium" pitchFamily="34" charset="-120"/>
              </a:rPr>
              <a:t>Doctor Dashboard</a:t>
            </a:r>
            <a:endParaRPr lang="en-US" sz="1600" dirty="0"/>
          </a:p>
        </p:txBody>
      </p:sp>
      <p:sp>
        <p:nvSpPr>
          <p:cNvPr id="28" name="Text 26"/>
          <p:cNvSpPr/>
          <p:nvPr/>
        </p:nvSpPr>
        <p:spPr>
          <a:xfrm>
            <a:off x="661475" y="5302250"/>
            <a:ext cx="4597087" cy="473670"/>
          </a:xfrm>
          <a:prstGeom prst="rect">
            <a:avLst/>
          </a:prstGeom>
          <a:noFill/>
          <a:ln/>
        </p:spPr>
        <p:txBody>
          <a:bodyPr wrap="square" lIns="0" tIns="0" rIns="0" bIns="0" rtlCol="0" anchor="t">
            <a:normAutofit/>
          </a:bodyPr>
          <a:lstStyle/>
          <a:p>
            <a:pPr marL="0" indent="0" algn="r">
              <a:lnSpc>
                <a:spcPct val="118000"/>
              </a:lnSpc>
              <a:buNone/>
            </a:pPr>
            <a:r>
              <a:rPr lang="en-US" sz="1300" dirty="0">
                <a:solidFill>
                  <a:srgbClr val="384653"/>
                </a:solidFill>
                <a:latin typeface="Roboto" pitchFamily="34" charset="0"/>
                <a:ea typeface="Roboto" pitchFamily="34" charset="-122"/>
                <a:cs typeface="Roboto" pitchFamily="34" charset="-120"/>
              </a:rPr>
              <a:t>Doctors access patient details, medical history, and scheduled appointments instantly</a:t>
            </a:r>
            <a:endParaRPr lang="en-US" sz="1300" dirty="0"/>
          </a:p>
        </p:txBody>
      </p:sp>
      <p:pic>
        <p:nvPicPr>
          <p:cNvPr id="30" name="Picture 29">
            <a:extLst>
              <a:ext uri="{FF2B5EF4-FFF2-40B4-BE49-F238E27FC236}">
                <a16:creationId xmlns:a16="http://schemas.microsoft.com/office/drawing/2014/main" id="{C9A51943-0838-5B78-A7C8-EF6FC1E5CD94}"/>
              </a:ext>
            </a:extLst>
          </p:cNvPr>
          <p:cNvPicPr>
            <a:picLocks noChangeAspect="1"/>
          </p:cNvPicPr>
          <p:nvPr/>
        </p:nvPicPr>
        <p:blipFill>
          <a:blip r:embed="rId3"/>
          <a:stretch>
            <a:fillRect/>
          </a:stretch>
        </p:blipFill>
        <p:spPr>
          <a:xfrm>
            <a:off x="10271594" y="6271209"/>
            <a:ext cx="1920406" cy="586791"/>
          </a:xfrm>
          <a:prstGeom prst="rect">
            <a:avLst/>
          </a:prstGeom>
        </p:spPr>
      </p:pic>
      <p:pic>
        <p:nvPicPr>
          <p:cNvPr id="33" name="Picture 32">
            <a:extLst>
              <a:ext uri="{FF2B5EF4-FFF2-40B4-BE49-F238E27FC236}">
                <a16:creationId xmlns:a16="http://schemas.microsoft.com/office/drawing/2014/main" id="{E0A56F83-225F-BDB1-EB89-6FAAD8968170}"/>
              </a:ext>
            </a:extLst>
          </p:cNvPr>
          <p:cNvPicPr>
            <a:picLocks noChangeAspect="1"/>
          </p:cNvPicPr>
          <p:nvPr/>
        </p:nvPicPr>
        <p:blipFill>
          <a:blip r:embed="rId4"/>
          <a:stretch>
            <a:fillRect/>
          </a:stretch>
        </p:blipFill>
        <p:spPr>
          <a:xfrm>
            <a:off x="1" y="0"/>
            <a:ext cx="1206694" cy="487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47005"/>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2E3C4E"/>
                </a:solidFill>
                <a:latin typeface="Host Grotesk Medium" pitchFamily="34" charset="0"/>
                <a:ea typeface="Host Grotesk Medium" pitchFamily="34" charset="-122"/>
                <a:cs typeface="Host Grotesk Medium" pitchFamily="34" charset="-120"/>
              </a:rPr>
              <a:t>Prescription Manager System</a:t>
            </a:r>
            <a:endParaRPr lang="en-US" sz="3300" dirty="0"/>
          </a:p>
        </p:txBody>
      </p:sp>
      <p:pic>
        <p:nvPicPr>
          <p:cNvPr id="3" name="Image 0" descr="preencoded.png"/>
          <p:cNvPicPr>
            <a:picLocks noChangeAspect="1"/>
          </p:cNvPicPr>
          <p:nvPr/>
        </p:nvPicPr>
        <p:blipFill>
          <a:blip r:embed="rId3"/>
          <a:stretch>
            <a:fillRect/>
          </a:stretch>
        </p:blipFill>
        <p:spPr>
          <a:xfrm>
            <a:off x="655529" y="1785392"/>
            <a:ext cx="3180774" cy="3180854"/>
          </a:xfrm>
          <a:prstGeom prst="rect">
            <a:avLst/>
          </a:prstGeom>
        </p:spPr>
      </p:pic>
      <p:sp>
        <p:nvSpPr>
          <p:cNvPr id="4" name="Text 1"/>
          <p:cNvSpPr/>
          <p:nvPr/>
        </p:nvSpPr>
        <p:spPr>
          <a:xfrm>
            <a:off x="4617029" y="1561306"/>
            <a:ext cx="6919442" cy="265708"/>
          </a:xfrm>
          <a:prstGeom prst="rect">
            <a:avLst/>
          </a:prstGeom>
          <a:noFill/>
          <a:ln/>
        </p:spPr>
        <p:txBody>
          <a:bodyPr wrap="none" lIns="0" tIns="0" rIns="0" bIns="0" rtlCol="0" anchor="t"/>
          <a:lstStyle/>
          <a:p>
            <a:pPr marL="0" indent="0" algn="l">
              <a:lnSpc>
                <a:spcPct val="104000"/>
              </a:lnSpc>
              <a:buNone/>
            </a:pPr>
            <a:r>
              <a:rPr lang="en-US" sz="1650" dirty="0">
                <a:solidFill>
                  <a:srgbClr val="2E3C4E"/>
                </a:solidFill>
                <a:latin typeface="Host Grotesk Medium" pitchFamily="34" charset="0"/>
                <a:ea typeface="Host Grotesk Medium" pitchFamily="34" charset="-122"/>
                <a:cs typeface="Host Grotesk Medium" pitchFamily="34" charset="-120"/>
              </a:rPr>
              <a:t>How It Works</a:t>
            </a:r>
            <a:endParaRPr lang="en-US" sz="1650" dirty="0"/>
          </a:p>
        </p:txBody>
      </p:sp>
      <p:sp>
        <p:nvSpPr>
          <p:cNvPr id="5" name="Text 2"/>
          <p:cNvSpPr/>
          <p:nvPr/>
        </p:nvSpPr>
        <p:spPr>
          <a:xfrm>
            <a:off x="4680775" y="2031107"/>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384653"/>
                </a:solidFill>
                <a:latin typeface="Host Grotesk Medium" pitchFamily="34" charset="0"/>
                <a:ea typeface="Host Grotesk Medium" pitchFamily="34" charset="-122"/>
                <a:cs typeface="Host Grotesk Medium" pitchFamily="34" charset="-120"/>
              </a:rPr>
              <a:t>1</a:t>
            </a:r>
            <a:endParaRPr lang="en-US" sz="2000" dirty="0"/>
          </a:p>
        </p:txBody>
      </p:sp>
      <p:sp>
        <p:nvSpPr>
          <p:cNvPr id="6" name="Text 3"/>
          <p:cNvSpPr/>
          <p:nvPr/>
        </p:nvSpPr>
        <p:spPr>
          <a:xfrm>
            <a:off x="5152797" y="2057698"/>
            <a:ext cx="6383674" cy="265708"/>
          </a:xfrm>
          <a:prstGeom prst="rect">
            <a:avLst/>
          </a:prstGeom>
          <a:noFill/>
          <a:ln/>
        </p:spPr>
        <p:txBody>
          <a:bodyPr wrap="none" lIns="0" tIns="0" rIns="0" bIns="0" rtlCol="0" anchor="t"/>
          <a:lstStyle/>
          <a:p>
            <a:pPr marL="0" indent="0" algn="l">
              <a:lnSpc>
                <a:spcPct val="104000"/>
              </a:lnSpc>
              <a:buNone/>
            </a:pPr>
            <a:r>
              <a:rPr lang="en-US" sz="1650" dirty="0">
                <a:solidFill>
                  <a:srgbClr val="384653"/>
                </a:solidFill>
                <a:latin typeface="Host Grotesk Medium" pitchFamily="34" charset="0"/>
                <a:ea typeface="Host Grotesk Medium" pitchFamily="34" charset="-122"/>
                <a:cs typeface="Host Grotesk Medium" pitchFamily="34" charset="-120"/>
              </a:rPr>
              <a:t>Digital Prescription Creation</a:t>
            </a:r>
            <a:endParaRPr lang="en-US" sz="1650" dirty="0"/>
          </a:p>
        </p:txBody>
      </p:sp>
      <p:sp>
        <p:nvSpPr>
          <p:cNvPr id="7" name="Text 4"/>
          <p:cNvSpPr/>
          <p:nvPr/>
        </p:nvSpPr>
        <p:spPr>
          <a:xfrm>
            <a:off x="5152797" y="2476500"/>
            <a:ext cx="6383674" cy="242391"/>
          </a:xfrm>
          <a:prstGeom prst="rect">
            <a:avLst/>
          </a:prstGeom>
          <a:noFill/>
          <a:ln/>
        </p:spPr>
        <p:txBody>
          <a:bodyPr wrap="none" lIns="0" tIns="0" rIns="0" bIns="0" rtlCol="0" anchor="t"/>
          <a:lstStyle/>
          <a:p>
            <a:pPr marL="0" indent="0" algn="l">
              <a:lnSpc>
                <a:spcPct val="119000"/>
              </a:lnSpc>
              <a:buNone/>
            </a:pPr>
            <a:r>
              <a:rPr lang="en-US" sz="1300" dirty="0">
                <a:solidFill>
                  <a:srgbClr val="384653"/>
                </a:solidFill>
                <a:latin typeface="Roboto" pitchFamily="34" charset="0"/>
                <a:ea typeface="Roboto" pitchFamily="34" charset="-122"/>
                <a:cs typeface="Roboto" pitchFamily="34" charset="-120"/>
              </a:rPr>
              <a:t>Doctor enters diagnosis, selects medications, and specifies dosage instructions</a:t>
            </a:r>
            <a:endParaRPr lang="en-US" sz="1300" dirty="0"/>
          </a:p>
        </p:txBody>
      </p:sp>
      <p:sp>
        <p:nvSpPr>
          <p:cNvPr id="8" name="Text 5"/>
          <p:cNvSpPr/>
          <p:nvPr/>
        </p:nvSpPr>
        <p:spPr>
          <a:xfrm>
            <a:off x="4680775" y="3056930"/>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384653"/>
                </a:solidFill>
                <a:latin typeface="Host Grotesk Medium" pitchFamily="34" charset="0"/>
                <a:ea typeface="Host Grotesk Medium" pitchFamily="34" charset="-122"/>
                <a:cs typeface="Host Grotesk Medium" pitchFamily="34" charset="-120"/>
              </a:rPr>
              <a:t>2</a:t>
            </a:r>
            <a:endParaRPr lang="en-US" sz="2000" dirty="0"/>
          </a:p>
        </p:txBody>
      </p:sp>
      <p:sp>
        <p:nvSpPr>
          <p:cNvPr id="9" name="Text 6"/>
          <p:cNvSpPr/>
          <p:nvPr/>
        </p:nvSpPr>
        <p:spPr>
          <a:xfrm>
            <a:off x="5152797" y="3083520"/>
            <a:ext cx="6383674" cy="265708"/>
          </a:xfrm>
          <a:prstGeom prst="rect">
            <a:avLst/>
          </a:prstGeom>
          <a:noFill/>
          <a:ln/>
        </p:spPr>
        <p:txBody>
          <a:bodyPr wrap="none" lIns="0" tIns="0" rIns="0" bIns="0" rtlCol="0" anchor="t"/>
          <a:lstStyle/>
          <a:p>
            <a:pPr marL="0" indent="0" algn="l">
              <a:lnSpc>
                <a:spcPct val="104000"/>
              </a:lnSpc>
              <a:buNone/>
            </a:pPr>
            <a:r>
              <a:rPr lang="en-US" sz="1650" dirty="0">
                <a:solidFill>
                  <a:srgbClr val="384653"/>
                </a:solidFill>
                <a:latin typeface="Host Grotesk Medium" pitchFamily="34" charset="0"/>
                <a:ea typeface="Host Grotesk Medium" pitchFamily="34" charset="-122"/>
                <a:cs typeface="Host Grotesk Medium" pitchFamily="34" charset="-120"/>
              </a:rPr>
              <a:t>Timestamp &amp; Secure Storage</a:t>
            </a:r>
            <a:endParaRPr lang="en-US" sz="1650" dirty="0"/>
          </a:p>
        </p:txBody>
      </p:sp>
      <p:sp>
        <p:nvSpPr>
          <p:cNvPr id="10" name="Text 7"/>
          <p:cNvSpPr/>
          <p:nvPr/>
        </p:nvSpPr>
        <p:spPr>
          <a:xfrm>
            <a:off x="5152797" y="3502323"/>
            <a:ext cx="6383674" cy="242391"/>
          </a:xfrm>
          <a:prstGeom prst="rect">
            <a:avLst/>
          </a:prstGeom>
          <a:noFill/>
          <a:ln/>
        </p:spPr>
        <p:txBody>
          <a:bodyPr wrap="none" lIns="0" tIns="0" rIns="0" bIns="0" rtlCol="0" anchor="t"/>
          <a:lstStyle/>
          <a:p>
            <a:pPr marL="0" indent="0" algn="l">
              <a:lnSpc>
                <a:spcPct val="119000"/>
              </a:lnSpc>
              <a:buNone/>
            </a:pPr>
            <a:r>
              <a:rPr lang="en-US" sz="1300" dirty="0">
                <a:solidFill>
                  <a:srgbClr val="384653"/>
                </a:solidFill>
                <a:latin typeface="Roboto" pitchFamily="34" charset="0"/>
                <a:ea typeface="Roboto" pitchFamily="34" charset="-122"/>
                <a:cs typeface="Roboto" pitchFamily="34" charset="-120"/>
              </a:rPr>
              <a:t>Prescriptions stored digitally with automatic timestamp, linked to the patient profile</a:t>
            </a:r>
            <a:endParaRPr lang="en-US" sz="1300" dirty="0"/>
          </a:p>
        </p:txBody>
      </p:sp>
      <p:sp>
        <p:nvSpPr>
          <p:cNvPr id="11" name="Text 8"/>
          <p:cNvSpPr/>
          <p:nvPr/>
        </p:nvSpPr>
        <p:spPr>
          <a:xfrm>
            <a:off x="4680775" y="4082752"/>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384653"/>
                </a:solidFill>
                <a:latin typeface="Host Grotesk Medium" pitchFamily="34" charset="0"/>
                <a:ea typeface="Host Grotesk Medium" pitchFamily="34" charset="-122"/>
                <a:cs typeface="Host Grotesk Medium" pitchFamily="34" charset="-120"/>
              </a:rPr>
              <a:t>3</a:t>
            </a:r>
            <a:endParaRPr lang="en-US" sz="2000" dirty="0"/>
          </a:p>
        </p:txBody>
      </p:sp>
      <p:sp>
        <p:nvSpPr>
          <p:cNvPr id="12" name="Text 9"/>
          <p:cNvSpPr/>
          <p:nvPr/>
        </p:nvSpPr>
        <p:spPr>
          <a:xfrm>
            <a:off x="5152797" y="4109343"/>
            <a:ext cx="6383674" cy="265708"/>
          </a:xfrm>
          <a:prstGeom prst="rect">
            <a:avLst/>
          </a:prstGeom>
          <a:noFill/>
          <a:ln/>
        </p:spPr>
        <p:txBody>
          <a:bodyPr wrap="none" lIns="0" tIns="0" rIns="0" bIns="0" rtlCol="0" anchor="t"/>
          <a:lstStyle/>
          <a:p>
            <a:pPr marL="0" indent="0" algn="l">
              <a:lnSpc>
                <a:spcPct val="104000"/>
              </a:lnSpc>
              <a:buNone/>
            </a:pPr>
            <a:r>
              <a:rPr lang="en-US" sz="1650" dirty="0">
                <a:solidFill>
                  <a:srgbClr val="384653"/>
                </a:solidFill>
                <a:latin typeface="Host Grotesk Medium" pitchFamily="34" charset="0"/>
                <a:ea typeface="Host Grotesk Medium" pitchFamily="34" charset="-122"/>
                <a:cs typeface="Host Grotesk Medium" pitchFamily="34" charset="-120"/>
              </a:rPr>
              <a:t>Accuracy &amp; Safety</a:t>
            </a:r>
            <a:endParaRPr lang="en-US" sz="1650" dirty="0"/>
          </a:p>
        </p:txBody>
      </p:sp>
      <p:sp>
        <p:nvSpPr>
          <p:cNvPr id="13" name="Text 10"/>
          <p:cNvSpPr/>
          <p:nvPr/>
        </p:nvSpPr>
        <p:spPr>
          <a:xfrm>
            <a:off x="5152797" y="4528145"/>
            <a:ext cx="6383674" cy="242391"/>
          </a:xfrm>
          <a:prstGeom prst="rect">
            <a:avLst/>
          </a:prstGeom>
          <a:noFill/>
          <a:ln/>
        </p:spPr>
        <p:txBody>
          <a:bodyPr wrap="none" lIns="0" tIns="0" rIns="0" bIns="0" rtlCol="0" anchor="t"/>
          <a:lstStyle/>
          <a:p>
            <a:pPr marL="0" indent="0" algn="l">
              <a:lnSpc>
                <a:spcPct val="119000"/>
              </a:lnSpc>
              <a:buNone/>
            </a:pPr>
            <a:r>
              <a:rPr lang="en-US" sz="1300" dirty="0">
                <a:solidFill>
                  <a:srgbClr val="384653"/>
                </a:solidFill>
                <a:latin typeface="Roboto" pitchFamily="34" charset="0"/>
                <a:ea typeface="Roboto" pitchFamily="34" charset="-122"/>
                <a:cs typeface="Roboto" pitchFamily="34" charset="-120"/>
              </a:rPr>
              <a:t>Eliminates errors from illegible handwriting and ensures medication safety</a:t>
            </a:r>
            <a:endParaRPr lang="en-US" sz="1300" dirty="0"/>
          </a:p>
        </p:txBody>
      </p:sp>
      <p:sp>
        <p:nvSpPr>
          <p:cNvPr id="14" name="Text 11"/>
          <p:cNvSpPr/>
          <p:nvPr/>
        </p:nvSpPr>
        <p:spPr>
          <a:xfrm>
            <a:off x="4680775" y="5108575"/>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384653"/>
                </a:solidFill>
                <a:latin typeface="Host Grotesk Medium" pitchFamily="34" charset="0"/>
                <a:ea typeface="Host Grotesk Medium" pitchFamily="34" charset="-122"/>
                <a:cs typeface="Host Grotesk Medium" pitchFamily="34" charset="-120"/>
              </a:rPr>
              <a:t>4</a:t>
            </a:r>
            <a:endParaRPr lang="en-US" sz="2000" dirty="0"/>
          </a:p>
        </p:txBody>
      </p:sp>
      <p:sp>
        <p:nvSpPr>
          <p:cNvPr id="15" name="Text 12"/>
          <p:cNvSpPr/>
          <p:nvPr/>
        </p:nvSpPr>
        <p:spPr>
          <a:xfrm>
            <a:off x="5152797" y="5135166"/>
            <a:ext cx="6383674" cy="265708"/>
          </a:xfrm>
          <a:prstGeom prst="rect">
            <a:avLst/>
          </a:prstGeom>
          <a:noFill/>
          <a:ln/>
        </p:spPr>
        <p:txBody>
          <a:bodyPr wrap="none" lIns="0" tIns="0" rIns="0" bIns="0" rtlCol="0" anchor="t"/>
          <a:lstStyle/>
          <a:p>
            <a:pPr marL="0" indent="0" algn="l">
              <a:lnSpc>
                <a:spcPct val="104000"/>
              </a:lnSpc>
              <a:buNone/>
            </a:pPr>
            <a:r>
              <a:rPr lang="en-US" sz="1650" dirty="0">
                <a:solidFill>
                  <a:srgbClr val="384653"/>
                </a:solidFill>
                <a:latin typeface="Host Grotesk Medium" pitchFamily="34" charset="0"/>
                <a:ea typeface="Host Grotesk Medium" pitchFamily="34" charset="-122"/>
                <a:cs typeface="Host Grotesk Medium" pitchFamily="34" charset="-120"/>
              </a:rPr>
              <a:t>Patient Access &amp; History</a:t>
            </a:r>
            <a:endParaRPr lang="en-US" sz="1650" dirty="0"/>
          </a:p>
        </p:txBody>
      </p:sp>
      <p:sp>
        <p:nvSpPr>
          <p:cNvPr id="16" name="Text 13"/>
          <p:cNvSpPr/>
          <p:nvPr/>
        </p:nvSpPr>
        <p:spPr>
          <a:xfrm>
            <a:off x="5152797" y="5553968"/>
            <a:ext cx="6383674" cy="484783"/>
          </a:xfrm>
          <a:prstGeom prst="rect">
            <a:avLst/>
          </a:prstGeom>
          <a:noFill/>
          <a:ln/>
        </p:spPr>
        <p:txBody>
          <a:bodyPr wrap="square" lIns="0" tIns="0" rIns="0" bIns="0" rtlCol="0" anchor="t">
            <a:normAutofit/>
          </a:bodyPr>
          <a:lstStyle/>
          <a:p>
            <a:pPr marL="0" indent="0" algn="l">
              <a:lnSpc>
                <a:spcPct val="119000"/>
              </a:lnSpc>
              <a:buNone/>
            </a:pPr>
            <a:r>
              <a:rPr lang="en-US" sz="1300" dirty="0">
                <a:solidFill>
                  <a:srgbClr val="384653"/>
                </a:solidFill>
                <a:latin typeface="Roboto" pitchFamily="34" charset="0"/>
                <a:ea typeface="Roboto" pitchFamily="34" charset="-122"/>
                <a:cs typeface="Roboto" pitchFamily="34" charset="-120"/>
              </a:rPr>
              <a:t>Patients access prescriptions on personal devices anytime; complete searchable history maintained</a:t>
            </a:r>
            <a:endParaRPr lang="en-US" sz="1300" dirty="0"/>
          </a:p>
        </p:txBody>
      </p:sp>
      <p:pic>
        <p:nvPicPr>
          <p:cNvPr id="18" name="Picture 17">
            <a:extLst>
              <a:ext uri="{FF2B5EF4-FFF2-40B4-BE49-F238E27FC236}">
                <a16:creationId xmlns:a16="http://schemas.microsoft.com/office/drawing/2014/main" id="{42D95C6B-CE31-6BF4-3C79-97EA115FB313}"/>
              </a:ext>
            </a:extLst>
          </p:cNvPr>
          <p:cNvPicPr>
            <a:picLocks noChangeAspect="1"/>
          </p:cNvPicPr>
          <p:nvPr/>
        </p:nvPicPr>
        <p:blipFill>
          <a:blip r:embed="rId4"/>
          <a:stretch>
            <a:fillRect/>
          </a:stretch>
        </p:blipFill>
        <p:spPr>
          <a:xfrm>
            <a:off x="10202067" y="6191844"/>
            <a:ext cx="1920406" cy="586791"/>
          </a:xfrm>
          <a:prstGeom prst="rect">
            <a:avLst/>
          </a:prstGeom>
        </p:spPr>
      </p:pic>
      <p:pic>
        <p:nvPicPr>
          <p:cNvPr id="22" name="Picture 21">
            <a:extLst>
              <a:ext uri="{FF2B5EF4-FFF2-40B4-BE49-F238E27FC236}">
                <a16:creationId xmlns:a16="http://schemas.microsoft.com/office/drawing/2014/main" id="{61451868-E664-B8D8-FD21-14FCC6341503}"/>
              </a:ext>
            </a:extLst>
          </p:cNvPr>
          <p:cNvPicPr>
            <a:picLocks noChangeAspect="1"/>
          </p:cNvPicPr>
          <p:nvPr/>
        </p:nvPicPr>
        <p:blipFill>
          <a:blip r:embed="rId5"/>
          <a:stretch>
            <a:fillRect/>
          </a:stretch>
        </p:blipFill>
        <p:spPr>
          <a:xfrm>
            <a:off x="1" y="0"/>
            <a:ext cx="1206694" cy="4876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3003"/>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2E3C4E"/>
                </a:solidFill>
                <a:latin typeface="Host Grotesk Medium" pitchFamily="34" charset="0"/>
                <a:ea typeface="Host Grotesk Medium" pitchFamily="34" charset="-122"/>
                <a:cs typeface="Host Grotesk Medium" pitchFamily="34" charset="-120"/>
              </a:rPr>
              <a:t>3. Advantages</a:t>
            </a:r>
            <a:endParaRPr lang="en-US" sz="35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35298"/>
            <a:ext cx="448854" cy="448866"/>
          </a:xfrm>
          <a:prstGeom prst="rect">
            <a:avLst/>
          </a:prstGeom>
        </p:spPr>
      </p:pic>
      <p:sp>
        <p:nvSpPr>
          <p:cNvPr id="4" name="Text 1"/>
          <p:cNvSpPr/>
          <p:nvPr/>
        </p:nvSpPr>
        <p:spPr>
          <a:xfrm>
            <a:off x="661475" y="2097385"/>
            <a:ext cx="5327715"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For Patients</a:t>
            </a:r>
            <a:endParaRPr lang="en-US" sz="1750" dirty="0"/>
          </a:p>
        </p:txBody>
      </p:sp>
      <p:sp>
        <p:nvSpPr>
          <p:cNvPr id="5" name="Text 2"/>
          <p:cNvSpPr/>
          <p:nvPr/>
        </p:nvSpPr>
        <p:spPr>
          <a:xfrm>
            <a:off x="661475" y="2480171"/>
            <a:ext cx="5327715" cy="1229420"/>
          </a:xfrm>
          <a:prstGeom prst="rect">
            <a:avLst/>
          </a:prstGeom>
          <a:noFill/>
          <a:ln/>
        </p:spPr>
        <p:txBody>
          <a:bodyPr wrap="square" lIns="0" tIns="0" rIns="0" bIns="0" rtlCol="0" anchor="t">
            <a:normAutofit/>
          </a:bodyPr>
          <a:lstStyle/>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Easy self-service appointment booking</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Instant digital confirmation</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Quick access to prescriptions anytime</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Reduced wait times</a:t>
            </a:r>
            <a:endParaRPr lang="en-US" sz="14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2406" y="1435298"/>
            <a:ext cx="448854" cy="448866"/>
          </a:xfrm>
          <a:prstGeom prst="rect">
            <a:avLst/>
          </a:prstGeom>
        </p:spPr>
      </p:pic>
      <p:sp>
        <p:nvSpPr>
          <p:cNvPr id="7" name="Text 3"/>
          <p:cNvSpPr/>
          <p:nvPr/>
        </p:nvSpPr>
        <p:spPr>
          <a:xfrm>
            <a:off x="6202406" y="2097385"/>
            <a:ext cx="5327814"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For Doctors</a:t>
            </a:r>
            <a:endParaRPr lang="en-US" sz="1750" dirty="0"/>
          </a:p>
        </p:txBody>
      </p:sp>
      <p:sp>
        <p:nvSpPr>
          <p:cNvPr id="8" name="Text 4"/>
          <p:cNvSpPr/>
          <p:nvPr/>
        </p:nvSpPr>
        <p:spPr>
          <a:xfrm>
            <a:off x="6202406" y="2480171"/>
            <a:ext cx="5327814" cy="1229420"/>
          </a:xfrm>
          <a:prstGeom prst="rect">
            <a:avLst/>
          </a:prstGeom>
          <a:noFill/>
          <a:ln/>
        </p:spPr>
        <p:txBody>
          <a:bodyPr wrap="square" lIns="0" tIns="0" rIns="0" bIns="0" rtlCol="0" anchor="t">
            <a:normAutofit/>
          </a:bodyPr>
          <a:lstStyle/>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Organized patient data at fingertips</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Efficient consultations</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Digital prescriptions reduce handwriting errors</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Better record-keeping</a:t>
            </a:r>
            <a:endParaRPr lang="en-US" sz="14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050705"/>
            <a:ext cx="448854" cy="448866"/>
          </a:xfrm>
          <a:prstGeom prst="rect">
            <a:avLst/>
          </a:prstGeom>
        </p:spPr>
      </p:pic>
      <p:sp>
        <p:nvSpPr>
          <p:cNvPr id="10" name="Text 5"/>
          <p:cNvSpPr/>
          <p:nvPr/>
        </p:nvSpPr>
        <p:spPr>
          <a:xfrm>
            <a:off x="661475" y="4712791"/>
            <a:ext cx="5327715"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For the Clinic</a:t>
            </a:r>
            <a:endParaRPr lang="en-US" sz="1750" dirty="0"/>
          </a:p>
        </p:txBody>
      </p:sp>
      <p:sp>
        <p:nvSpPr>
          <p:cNvPr id="11" name="Text 6"/>
          <p:cNvSpPr/>
          <p:nvPr/>
        </p:nvSpPr>
        <p:spPr>
          <a:xfrm>
            <a:off x="661475" y="5095577"/>
            <a:ext cx="5327715" cy="1229420"/>
          </a:xfrm>
          <a:prstGeom prst="rect">
            <a:avLst/>
          </a:prstGeom>
          <a:noFill/>
          <a:ln/>
        </p:spPr>
        <p:txBody>
          <a:bodyPr wrap="square" lIns="0" tIns="0" rIns="0" bIns="0" rtlCol="0" anchor="t">
            <a:normAutofit/>
          </a:bodyPr>
          <a:lstStyle/>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No double-booking with automated scheduling</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Reduced administrative workload</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Better resource management</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Improved patient satisfaction</a:t>
            </a:r>
            <a:endParaRPr lang="en-US" sz="14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02406" y="4050705"/>
            <a:ext cx="448854" cy="448866"/>
          </a:xfrm>
          <a:prstGeom prst="rect">
            <a:avLst/>
          </a:prstGeom>
        </p:spPr>
      </p:pic>
      <p:sp>
        <p:nvSpPr>
          <p:cNvPr id="13" name="Text 7"/>
          <p:cNvSpPr/>
          <p:nvPr/>
        </p:nvSpPr>
        <p:spPr>
          <a:xfrm>
            <a:off x="6202406" y="4712791"/>
            <a:ext cx="5327814"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System-Wide</a:t>
            </a:r>
            <a:endParaRPr lang="en-US" sz="1750" dirty="0"/>
          </a:p>
        </p:txBody>
      </p:sp>
      <p:sp>
        <p:nvSpPr>
          <p:cNvPr id="14" name="Text 8"/>
          <p:cNvSpPr/>
          <p:nvPr/>
        </p:nvSpPr>
        <p:spPr>
          <a:xfrm>
            <a:off x="6202406" y="5095577"/>
            <a:ext cx="5327814" cy="1229420"/>
          </a:xfrm>
          <a:prstGeom prst="rect">
            <a:avLst/>
          </a:prstGeom>
          <a:noFill/>
          <a:ln/>
        </p:spPr>
        <p:txBody>
          <a:bodyPr wrap="square" lIns="0" tIns="0" rIns="0" bIns="0" rtlCol="0" anchor="t">
            <a:normAutofit/>
          </a:bodyPr>
          <a:lstStyle/>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Reduced medication errors</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Faster service delivery</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Better data security</a:t>
            </a:r>
            <a:endParaRPr lang="en-US" sz="1400" dirty="0"/>
          </a:p>
          <a:p>
            <a:pPr marL="284480" indent="-284480" algn="l">
              <a:lnSpc>
                <a:spcPct val="122000"/>
              </a:lnSpc>
              <a:buSzPct val="100000"/>
              <a:buChar char="•"/>
            </a:pPr>
            <a:r>
              <a:rPr lang="en-US" sz="1400" dirty="0">
                <a:solidFill>
                  <a:srgbClr val="384653"/>
                </a:solidFill>
                <a:latin typeface="Roboto" pitchFamily="34" charset="0"/>
                <a:ea typeface="Roboto" pitchFamily="34" charset="-122"/>
                <a:cs typeface="Roboto" pitchFamily="34" charset="-120"/>
              </a:rPr>
              <a:t>Improved healthcare quality</a:t>
            </a:r>
            <a:endParaRPr lang="en-US" sz="1400" dirty="0"/>
          </a:p>
        </p:txBody>
      </p:sp>
      <p:pic>
        <p:nvPicPr>
          <p:cNvPr id="16" name="Picture 15">
            <a:extLst>
              <a:ext uri="{FF2B5EF4-FFF2-40B4-BE49-F238E27FC236}">
                <a16:creationId xmlns:a16="http://schemas.microsoft.com/office/drawing/2014/main" id="{0E94180A-560F-8D70-E34F-316CFC9DAD9A}"/>
              </a:ext>
            </a:extLst>
          </p:cNvPr>
          <p:cNvPicPr>
            <a:picLocks noChangeAspect="1"/>
          </p:cNvPicPr>
          <p:nvPr/>
        </p:nvPicPr>
        <p:blipFill>
          <a:blip r:embed="rId7"/>
          <a:stretch>
            <a:fillRect/>
          </a:stretch>
        </p:blipFill>
        <p:spPr>
          <a:xfrm>
            <a:off x="10271594" y="6271209"/>
            <a:ext cx="1920406" cy="586791"/>
          </a:xfrm>
          <a:prstGeom prst="rect">
            <a:avLst/>
          </a:prstGeom>
        </p:spPr>
      </p:pic>
      <p:pic>
        <p:nvPicPr>
          <p:cNvPr id="19" name="Picture 18">
            <a:extLst>
              <a:ext uri="{FF2B5EF4-FFF2-40B4-BE49-F238E27FC236}">
                <a16:creationId xmlns:a16="http://schemas.microsoft.com/office/drawing/2014/main" id="{5C243112-BC8F-28A0-C6B2-07F1E4B5406F}"/>
              </a:ext>
            </a:extLst>
          </p:cNvPr>
          <p:cNvPicPr>
            <a:picLocks noChangeAspect="1"/>
          </p:cNvPicPr>
          <p:nvPr/>
        </p:nvPicPr>
        <p:blipFill>
          <a:blip r:embed="rId8"/>
          <a:stretch>
            <a:fillRect/>
          </a:stretch>
        </p:blipFill>
        <p:spPr>
          <a:xfrm>
            <a:off x="1" y="0"/>
            <a:ext cx="1206694" cy="487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31428"/>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2E3C4E"/>
                </a:solidFill>
                <a:latin typeface="Host Grotesk Medium" pitchFamily="34" charset="0"/>
                <a:ea typeface="Host Grotesk Medium" pitchFamily="34" charset="-122"/>
                <a:cs typeface="Host Grotesk Medium" pitchFamily="34" charset="-120"/>
              </a:rPr>
              <a:t>5. Future Scope &amp; Enhancements</a:t>
            </a:r>
            <a:endParaRPr lang="en-US" sz="3500" dirty="0"/>
          </a:p>
        </p:txBody>
      </p:sp>
      <p:pic>
        <p:nvPicPr>
          <p:cNvPr id="3" name="Image 0" descr="preencoded.png"/>
          <p:cNvPicPr>
            <a:picLocks noChangeAspect="1"/>
          </p:cNvPicPr>
          <p:nvPr/>
        </p:nvPicPr>
        <p:blipFill>
          <a:blip r:embed="rId3"/>
          <a:stretch>
            <a:fillRect/>
          </a:stretch>
        </p:blipFill>
        <p:spPr>
          <a:xfrm>
            <a:off x="661475" y="1533723"/>
            <a:ext cx="1068857" cy="660598"/>
          </a:xfrm>
          <a:prstGeom prst="rect">
            <a:avLst/>
          </a:prstGeom>
        </p:spPr>
      </p:pic>
      <p:sp>
        <p:nvSpPr>
          <p:cNvPr id="4" name="Text 1"/>
          <p:cNvSpPr/>
          <p:nvPr/>
        </p:nvSpPr>
        <p:spPr>
          <a:xfrm>
            <a:off x="661475" y="2407543"/>
            <a:ext cx="2557200"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Mobile Integration</a:t>
            </a:r>
            <a:endParaRPr lang="en-US" sz="1750" dirty="0"/>
          </a:p>
        </p:txBody>
      </p:sp>
      <p:sp>
        <p:nvSpPr>
          <p:cNvPr id="5" name="Text 2"/>
          <p:cNvSpPr/>
          <p:nvPr/>
        </p:nvSpPr>
        <p:spPr>
          <a:xfrm>
            <a:off x="661475" y="2790329"/>
            <a:ext cx="2557200" cy="787896"/>
          </a:xfrm>
          <a:prstGeom prst="rect">
            <a:avLst/>
          </a:prstGeom>
          <a:noFill/>
          <a:ln/>
        </p:spPr>
        <p:txBody>
          <a:bodyPr wrap="square" lIns="0" tIns="0" rIns="0" bIns="0" rtlCol="0" anchor="t">
            <a:normAutofit/>
          </a:bodyPr>
          <a:lstStyle/>
          <a:p>
            <a:pPr marL="0" indent="0" algn="l">
              <a:lnSpc>
                <a:spcPct val="122000"/>
              </a:lnSpc>
              <a:buNone/>
            </a:pPr>
            <a:r>
              <a:rPr lang="en-US" sz="1400" dirty="0">
                <a:solidFill>
                  <a:srgbClr val="384653"/>
                </a:solidFill>
                <a:latin typeface="Roboto" pitchFamily="34" charset="0"/>
                <a:ea typeface="Roboto" pitchFamily="34" charset="-122"/>
                <a:cs typeface="Roboto" pitchFamily="34" charset="-120"/>
              </a:rPr>
              <a:t>iOS/Android app for on-the-go appointment management and prescription access</a:t>
            </a:r>
            <a:endParaRPr lang="en-US" sz="1400" dirty="0"/>
          </a:p>
        </p:txBody>
      </p:sp>
      <p:pic>
        <p:nvPicPr>
          <p:cNvPr id="6" name="Image 1" descr="preencoded.png"/>
          <p:cNvPicPr>
            <a:picLocks noChangeAspect="1"/>
          </p:cNvPicPr>
          <p:nvPr/>
        </p:nvPicPr>
        <p:blipFill>
          <a:blip r:embed="rId4"/>
          <a:stretch>
            <a:fillRect/>
          </a:stretch>
        </p:blipFill>
        <p:spPr>
          <a:xfrm>
            <a:off x="3431891" y="1533723"/>
            <a:ext cx="1068857" cy="660598"/>
          </a:xfrm>
          <a:prstGeom prst="rect">
            <a:avLst/>
          </a:prstGeom>
        </p:spPr>
      </p:pic>
      <p:sp>
        <p:nvSpPr>
          <p:cNvPr id="7" name="Text 3"/>
          <p:cNvSpPr/>
          <p:nvPr/>
        </p:nvSpPr>
        <p:spPr>
          <a:xfrm>
            <a:off x="3431891" y="2407543"/>
            <a:ext cx="2557299"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Pharmacy Integration</a:t>
            </a:r>
            <a:endParaRPr lang="en-US" sz="1750" dirty="0"/>
          </a:p>
        </p:txBody>
      </p:sp>
      <p:sp>
        <p:nvSpPr>
          <p:cNvPr id="8" name="Text 4"/>
          <p:cNvSpPr/>
          <p:nvPr/>
        </p:nvSpPr>
        <p:spPr>
          <a:xfrm>
            <a:off x="3431891" y="2790329"/>
            <a:ext cx="2557299" cy="1050528"/>
          </a:xfrm>
          <a:prstGeom prst="rect">
            <a:avLst/>
          </a:prstGeom>
          <a:noFill/>
          <a:ln/>
        </p:spPr>
        <p:txBody>
          <a:bodyPr wrap="square" lIns="0" tIns="0" rIns="0" bIns="0" rtlCol="0" anchor="t">
            <a:normAutofit/>
          </a:bodyPr>
          <a:lstStyle/>
          <a:p>
            <a:pPr marL="0" indent="0" algn="l">
              <a:lnSpc>
                <a:spcPct val="122000"/>
              </a:lnSpc>
              <a:buNone/>
            </a:pPr>
            <a:r>
              <a:rPr lang="en-US" sz="1400" dirty="0">
                <a:solidFill>
                  <a:srgbClr val="384653"/>
                </a:solidFill>
                <a:latin typeface="Roboto" pitchFamily="34" charset="0"/>
                <a:ea typeface="Roboto" pitchFamily="34" charset="-122"/>
                <a:cs typeface="Roboto" pitchFamily="34" charset="-120"/>
              </a:rPr>
              <a:t>Automated prescription fulfillment and medication tracking via connected pharmacy systems</a:t>
            </a:r>
            <a:endParaRPr lang="en-US" sz="1400" dirty="0"/>
          </a:p>
        </p:txBody>
      </p:sp>
      <p:pic>
        <p:nvPicPr>
          <p:cNvPr id="9" name="Image 2" descr="preencoded.png"/>
          <p:cNvPicPr>
            <a:picLocks noChangeAspect="1"/>
          </p:cNvPicPr>
          <p:nvPr/>
        </p:nvPicPr>
        <p:blipFill>
          <a:blip r:embed="rId5"/>
          <a:stretch>
            <a:fillRect/>
          </a:stretch>
        </p:blipFill>
        <p:spPr>
          <a:xfrm>
            <a:off x="6202406" y="1533723"/>
            <a:ext cx="1068857" cy="660598"/>
          </a:xfrm>
          <a:prstGeom prst="rect">
            <a:avLst/>
          </a:prstGeom>
        </p:spPr>
      </p:pic>
      <p:sp>
        <p:nvSpPr>
          <p:cNvPr id="10" name="Text 5"/>
          <p:cNvSpPr/>
          <p:nvPr/>
        </p:nvSpPr>
        <p:spPr>
          <a:xfrm>
            <a:off x="6202406" y="2407543"/>
            <a:ext cx="2557299"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Intelligent Scheduling</a:t>
            </a:r>
            <a:endParaRPr lang="en-US" sz="1750" dirty="0"/>
          </a:p>
        </p:txBody>
      </p:sp>
      <p:sp>
        <p:nvSpPr>
          <p:cNvPr id="11" name="Text 6"/>
          <p:cNvSpPr/>
          <p:nvPr/>
        </p:nvSpPr>
        <p:spPr>
          <a:xfrm>
            <a:off x="6202406" y="2790329"/>
            <a:ext cx="2557299" cy="787896"/>
          </a:xfrm>
          <a:prstGeom prst="rect">
            <a:avLst/>
          </a:prstGeom>
          <a:noFill/>
          <a:ln/>
        </p:spPr>
        <p:txBody>
          <a:bodyPr wrap="square" lIns="0" tIns="0" rIns="0" bIns="0" rtlCol="0" anchor="t">
            <a:normAutofit/>
          </a:bodyPr>
          <a:lstStyle/>
          <a:p>
            <a:pPr marL="0" indent="0" algn="l">
              <a:lnSpc>
                <a:spcPct val="122000"/>
              </a:lnSpc>
              <a:buNone/>
            </a:pPr>
            <a:r>
              <a:rPr lang="en-US" sz="1400" dirty="0">
                <a:solidFill>
                  <a:srgbClr val="384653"/>
                </a:solidFill>
                <a:latin typeface="Roboto" pitchFamily="34" charset="0"/>
                <a:ea typeface="Roboto" pitchFamily="34" charset="-122"/>
                <a:cs typeface="Roboto" pitchFamily="34" charset="-120"/>
              </a:rPr>
              <a:t>AI-based appointment optimization and doctor availability prediction</a:t>
            </a:r>
            <a:endParaRPr lang="en-US" sz="1400" dirty="0"/>
          </a:p>
        </p:txBody>
      </p:sp>
      <p:pic>
        <p:nvPicPr>
          <p:cNvPr id="12" name="Image 3" descr="preencoded.png"/>
          <p:cNvPicPr>
            <a:picLocks noChangeAspect="1"/>
          </p:cNvPicPr>
          <p:nvPr/>
        </p:nvPicPr>
        <p:blipFill>
          <a:blip r:embed="rId6"/>
          <a:stretch>
            <a:fillRect/>
          </a:stretch>
        </p:blipFill>
        <p:spPr>
          <a:xfrm>
            <a:off x="8972921" y="1533723"/>
            <a:ext cx="1068857" cy="660598"/>
          </a:xfrm>
          <a:prstGeom prst="rect">
            <a:avLst/>
          </a:prstGeom>
        </p:spPr>
      </p:pic>
      <p:sp>
        <p:nvSpPr>
          <p:cNvPr id="13" name="Text 7"/>
          <p:cNvSpPr/>
          <p:nvPr/>
        </p:nvSpPr>
        <p:spPr>
          <a:xfrm>
            <a:off x="8972921" y="2407543"/>
            <a:ext cx="2557299"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Telemedicine</a:t>
            </a:r>
            <a:endParaRPr lang="en-US" sz="1750" dirty="0"/>
          </a:p>
        </p:txBody>
      </p:sp>
      <p:sp>
        <p:nvSpPr>
          <p:cNvPr id="14" name="Text 8"/>
          <p:cNvSpPr/>
          <p:nvPr/>
        </p:nvSpPr>
        <p:spPr>
          <a:xfrm>
            <a:off x="8972921" y="2790329"/>
            <a:ext cx="2557299" cy="787896"/>
          </a:xfrm>
          <a:prstGeom prst="rect">
            <a:avLst/>
          </a:prstGeom>
          <a:noFill/>
          <a:ln/>
        </p:spPr>
        <p:txBody>
          <a:bodyPr wrap="square" lIns="0" tIns="0" rIns="0" bIns="0" rtlCol="0" anchor="t">
            <a:normAutofit/>
          </a:bodyPr>
          <a:lstStyle/>
          <a:p>
            <a:pPr marL="0" indent="0" algn="l">
              <a:lnSpc>
                <a:spcPct val="122000"/>
              </a:lnSpc>
              <a:buNone/>
            </a:pPr>
            <a:r>
              <a:rPr lang="en-US" sz="1400" dirty="0">
                <a:solidFill>
                  <a:srgbClr val="384653"/>
                </a:solidFill>
                <a:latin typeface="Roboto" pitchFamily="34" charset="0"/>
                <a:ea typeface="Roboto" pitchFamily="34" charset="-122"/>
                <a:cs typeface="Roboto" pitchFamily="34" charset="-120"/>
              </a:rPr>
              <a:t>Enable remote consultations and video appointments for greater accessibility</a:t>
            </a:r>
            <a:endParaRPr lang="en-US" sz="1400" dirty="0"/>
          </a:p>
        </p:txBody>
      </p:sp>
      <p:pic>
        <p:nvPicPr>
          <p:cNvPr id="15" name="Image 4" descr="preencoded.png"/>
          <p:cNvPicPr>
            <a:picLocks noChangeAspect="1"/>
          </p:cNvPicPr>
          <p:nvPr/>
        </p:nvPicPr>
        <p:blipFill>
          <a:blip r:embed="rId7"/>
          <a:stretch>
            <a:fillRect/>
          </a:stretch>
        </p:blipFill>
        <p:spPr>
          <a:xfrm>
            <a:off x="661475" y="4181971"/>
            <a:ext cx="1068857" cy="660598"/>
          </a:xfrm>
          <a:prstGeom prst="rect">
            <a:avLst/>
          </a:prstGeom>
        </p:spPr>
      </p:pic>
      <p:sp>
        <p:nvSpPr>
          <p:cNvPr id="16" name="Text 9"/>
          <p:cNvSpPr/>
          <p:nvPr/>
        </p:nvSpPr>
        <p:spPr>
          <a:xfrm>
            <a:off x="661475" y="5055791"/>
            <a:ext cx="2557200" cy="280491"/>
          </a:xfrm>
          <a:prstGeom prst="rect">
            <a:avLst/>
          </a:prstGeom>
          <a:noFill/>
          <a:ln/>
        </p:spPr>
        <p:txBody>
          <a:bodyPr wrap="none" lIns="0" tIns="0" rIns="0" bIns="0" rtlCol="0" anchor="t"/>
          <a:lstStyle/>
          <a:p>
            <a:pPr marL="0" indent="0" algn="l">
              <a:lnSpc>
                <a:spcPct val="104000"/>
              </a:lnSpc>
              <a:buNone/>
            </a:pPr>
            <a:r>
              <a:rPr lang="en-US" sz="1750" dirty="0">
                <a:solidFill>
                  <a:srgbClr val="384653"/>
                </a:solidFill>
                <a:latin typeface="Host Grotesk Medium" pitchFamily="34" charset="0"/>
                <a:ea typeface="Host Grotesk Medium" pitchFamily="34" charset="-122"/>
                <a:cs typeface="Host Grotesk Medium" pitchFamily="34" charset="-120"/>
              </a:rPr>
              <a:t>Analytics Dashboard</a:t>
            </a:r>
            <a:endParaRPr lang="en-US" sz="1750" dirty="0"/>
          </a:p>
        </p:txBody>
      </p:sp>
      <p:sp>
        <p:nvSpPr>
          <p:cNvPr id="17" name="Text 10"/>
          <p:cNvSpPr/>
          <p:nvPr/>
        </p:nvSpPr>
        <p:spPr>
          <a:xfrm>
            <a:off x="661475" y="5438577"/>
            <a:ext cx="2557200" cy="787896"/>
          </a:xfrm>
          <a:prstGeom prst="rect">
            <a:avLst/>
          </a:prstGeom>
          <a:noFill/>
          <a:ln/>
        </p:spPr>
        <p:txBody>
          <a:bodyPr wrap="square" lIns="0" tIns="0" rIns="0" bIns="0" rtlCol="0" anchor="t">
            <a:normAutofit/>
          </a:bodyPr>
          <a:lstStyle/>
          <a:p>
            <a:pPr marL="0" indent="0" algn="l">
              <a:lnSpc>
                <a:spcPct val="122000"/>
              </a:lnSpc>
              <a:buNone/>
            </a:pPr>
            <a:r>
              <a:rPr lang="en-US" sz="1400" dirty="0">
                <a:solidFill>
                  <a:srgbClr val="384653"/>
                </a:solidFill>
                <a:latin typeface="Roboto" pitchFamily="34" charset="0"/>
                <a:ea typeface="Roboto" pitchFamily="34" charset="-122"/>
                <a:cs typeface="Roboto" pitchFamily="34" charset="-120"/>
              </a:rPr>
              <a:t>Clinic performance metrics, patient statistics, and comprehensive reporting tools</a:t>
            </a:r>
            <a:endParaRPr lang="en-US" sz="1400" dirty="0"/>
          </a:p>
        </p:txBody>
      </p:sp>
      <p:pic>
        <p:nvPicPr>
          <p:cNvPr id="19" name="Picture 18">
            <a:extLst>
              <a:ext uri="{FF2B5EF4-FFF2-40B4-BE49-F238E27FC236}">
                <a16:creationId xmlns:a16="http://schemas.microsoft.com/office/drawing/2014/main" id="{F9FE8697-C162-FA6A-BC4F-E31731D49F36}"/>
              </a:ext>
            </a:extLst>
          </p:cNvPr>
          <p:cNvPicPr>
            <a:picLocks noChangeAspect="1"/>
          </p:cNvPicPr>
          <p:nvPr/>
        </p:nvPicPr>
        <p:blipFill>
          <a:blip r:embed="rId8"/>
          <a:stretch>
            <a:fillRect/>
          </a:stretch>
        </p:blipFill>
        <p:spPr>
          <a:xfrm>
            <a:off x="10251570" y="6271209"/>
            <a:ext cx="1920406" cy="586791"/>
          </a:xfrm>
          <a:prstGeom prst="rect">
            <a:avLst/>
          </a:prstGeom>
        </p:spPr>
      </p:pic>
      <p:pic>
        <p:nvPicPr>
          <p:cNvPr id="23" name="Picture 22">
            <a:extLst>
              <a:ext uri="{FF2B5EF4-FFF2-40B4-BE49-F238E27FC236}">
                <a16:creationId xmlns:a16="http://schemas.microsoft.com/office/drawing/2014/main" id="{663E2D56-ACCC-B639-71E6-D5026731EF04}"/>
              </a:ext>
            </a:extLst>
          </p:cNvPr>
          <p:cNvPicPr>
            <a:picLocks noChangeAspect="1"/>
          </p:cNvPicPr>
          <p:nvPr/>
        </p:nvPicPr>
        <p:blipFill>
          <a:blip r:embed="rId9"/>
          <a:stretch>
            <a:fillRect/>
          </a:stretch>
        </p:blipFill>
        <p:spPr>
          <a:xfrm>
            <a:off x="1" y="0"/>
            <a:ext cx="1206694" cy="487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0" y="0"/>
                </a:moveTo>
                <a:lnTo>
                  <a:pt x="100000" y="0"/>
                </a:lnTo>
                <a:lnTo>
                  <a:pt x="100000" y="100000"/>
                </a:lnTo>
                <a:lnTo>
                  <a:pt x="25000" y="100000"/>
                </a:lnTo>
                <a:close/>
              </a:path>
            </a:pathLst>
          </a:custGeom>
        </p:spPr>
      </p:pic>
      <p:pic>
        <p:nvPicPr>
          <p:cNvPr id="3" name="Image 1" descr="preencoded.png"/>
          <p:cNvPicPr>
            <a:picLocks noChangeAspect="1"/>
          </p:cNvPicPr>
          <p:nvPr/>
        </p:nvPicPr>
        <p:blipFill>
          <a:blip r:embed="rId4"/>
          <a:stretch>
            <a:fillRect/>
          </a:stretch>
        </p:blipFill>
        <p:spPr>
          <a:xfrm>
            <a:off x="8590839" y="799207"/>
            <a:ext cx="3506303" cy="5259586"/>
          </a:xfrm>
          <a:prstGeom prst="rect">
            <a:avLst/>
          </a:prstGeom>
        </p:spPr>
      </p:pic>
      <p:sp>
        <p:nvSpPr>
          <p:cNvPr id="4" name="Text 0"/>
          <p:cNvSpPr/>
          <p:nvPr/>
        </p:nvSpPr>
        <p:spPr>
          <a:xfrm>
            <a:off x="661475" y="1081484"/>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2E3C4E"/>
                </a:solidFill>
                <a:latin typeface="Host Grotesk Medium" pitchFamily="34" charset="0"/>
                <a:ea typeface="Host Grotesk Medium" pitchFamily="34" charset="-122"/>
                <a:cs typeface="Host Grotesk Medium" pitchFamily="34" charset="-120"/>
              </a:rPr>
              <a:t>CO's covered</a:t>
            </a:r>
            <a:endParaRPr lang="en-US" sz="3700" dirty="0"/>
          </a:p>
        </p:txBody>
      </p:sp>
      <p:graphicFrame>
        <p:nvGraphicFramePr>
          <p:cNvPr id="10" name="Table 0"/>
          <p:cNvGraphicFramePr>
            <a:graphicFrameLocks noGrp="1"/>
          </p:cNvGraphicFramePr>
          <p:nvPr>
            <p:extLst>
              <p:ext uri="{D42A27DB-BD31-4B8C-83A1-F6EECF244321}">
                <p14:modId xmlns:p14="http://schemas.microsoft.com/office/powerpoint/2010/main" val="94988917"/>
              </p:ext>
            </p:extLst>
          </p:nvPr>
        </p:nvGraphicFramePr>
        <p:xfrm>
          <a:off x="438395" y="1861046"/>
          <a:ext cx="6296860" cy="4670324"/>
        </p:xfrm>
        <a:graphic>
          <a:graphicData uri="http://schemas.openxmlformats.org/drawingml/2006/table">
            <a:tbl>
              <a:tblPr/>
              <a:tblGrid>
                <a:gridCol w="760031">
                  <a:extLst>
                    <a:ext uri="{9D8B030D-6E8A-4147-A177-3AD203B41FA5}">
                      <a16:colId xmlns:a16="http://schemas.microsoft.com/office/drawing/2014/main" val="20000"/>
                    </a:ext>
                  </a:extLst>
                </a:gridCol>
                <a:gridCol w="5536829">
                  <a:extLst>
                    <a:ext uri="{9D8B030D-6E8A-4147-A177-3AD203B41FA5}">
                      <a16:colId xmlns:a16="http://schemas.microsoft.com/office/drawing/2014/main" val="20001"/>
                    </a:ext>
                  </a:extLst>
                </a:gridCol>
              </a:tblGrid>
              <a:tr h="751788">
                <a:tc>
                  <a:txBody>
                    <a:bodyPr/>
                    <a:lstStyle/>
                    <a:p>
                      <a:pPr marL="0" indent="0" algn="l">
                        <a:buNone/>
                      </a:pPr>
                      <a:r>
                        <a:rPr lang="en-US" sz="1450" dirty="0">
                          <a:solidFill>
                            <a:srgbClr val="384653"/>
                          </a:solidFill>
                          <a:latin typeface="Roboto" pitchFamily="34" charset="0"/>
                          <a:ea typeface="Roboto" pitchFamily="34" charset="-122"/>
                          <a:cs typeface="Roboto" pitchFamily="34" charset="-120"/>
                        </a:rPr>
                        <a:t>co1</a:t>
                      </a:r>
                      <a:endParaRPr lang="en-US" sz="1450" dirty="0">
                        <a:latin typeface="Roboto" charset="0"/>
                        <a:ea typeface="Roboto" charset="0"/>
                        <a:cs typeface="Roboto" charset="0"/>
                      </a:endParaRPr>
                    </a:p>
                  </a:txBody>
                  <a:tcPr marL="189018" marR="189018" marT="6350" marB="6350" anchor="ctr">
                    <a:lnL w="12700" cap="flat" cmpd="sng" algn="ctr">
                      <a:solidFill>
                        <a:srgbClr val="BFD3D8"/>
                      </a:solidFill>
                      <a:prstDash val="solid"/>
                      <a:round/>
                      <a:headEnd type="none" w="med" len="med"/>
                      <a:tailEnd type="none" w="med" len="med"/>
                    </a:lnL>
                    <a:lnR w="12700" cap="flat" cmpd="sng" algn="ctr">
                      <a:solidFill>
                        <a:srgbClr val="FAF9F5"/>
                      </a:solidFill>
                      <a:prstDash val="solid"/>
                      <a:round/>
                      <a:headEnd type="none" w="med" len="med"/>
                      <a:tailEnd type="none" w="med" len="med"/>
                    </a:lnR>
                    <a:lnT w="12700" cap="flat" cmpd="sng" algn="ctr">
                      <a:solidFill>
                        <a:srgbClr val="BFD3D8"/>
                      </a:solidFill>
                      <a:prstDash val="solid"/>
                      <a:round/>
                      <a:headEnd type="none" w="med" len="med"/>
                      <a:tailEnd type="none" w="med" len="med"/>
                    </a:lnT>
                    <a:lnB w="12700" cap="flat" cmpd="sng" algn="ctr">
                      <a:solidFill>
                        <a:srgbClr val="FAF9F5"/>
                      </a:solidFill>
                      <a:prstDash val="solid"/>
                      <a:round/>
                      <a:headEnd type="none" w="med" len="med"/>
                      <a:tailEnd type="none" w="med" len="med"/>
                    </a:lnB>
                    <a:solidFill>
                      <a:srgbClr val="FFFFFF">
                        <a:alpha val="4000"/>
                      </a:srgbClr>
                    </a:solidFill>
                  </a:tcPr>
                </a:tc>
                <a:tc>
                  <a:txBody>
                    <a:bodyPr/>
                    <a:lstStyle/>
                    <a:p>
                      <a:pPr marL="294640" indent="-294640" algn="l">
                        <a:buSzPct val="100000"/>
                        <a:buChar char="•"/>
                      </a:pPr>
                      <a:r>
                        <a:rPr lang="en-US" sz="1450" dirty="0">
                          <a:solidFill>
                            <a:srgbClr val="384653"/>
                          </a:solidFill>
                          <a:latin typeface="Roboto" pitchFamily="34" charset="0"/>
                          <a:ea typeface="Roboto" pitchFamily="34" charset="-122"/>
                          <a:cs typeface="Roboto" pitchFamily="34" charset="-120"/>
                        </a:rPr>
                        <a:t>Understanding computational thinking, algorithms, flowcharts, and the fundamentals of Java programming and data types.</a:t>
                      </a:r>
                      <a:endParaRPr lang="en-US" sz="1450" dirty="0">
                        <a:latin typeface="Roboto" charset="0"/>
                        <a:ea typeface="Roboto" charset="0"/>
                        <a:cs typeface="Roboto" charset="0"/>
                      </a:endParaRPr>
                    </a:p>
                  </a:txBody>
                  <a:tcPr marL="189018" marR="189018" marT="6350" marB="6350" anchor="ctr">
                    <a:lnL w="12700" cap="flat" cmpd="sng" algn="ctr">
                      <a:solidFill>
                        <a:srgbClr val="FAF9F5"/>
                      </a:solidFill>
                      <a:prstDash val="solid"/>
                      <a:round/>
                      <a:headEnd type="none" w="med" len="med"/>
                      <a:tailEnd type="none" w="med" len="med"/>
                    </a:lnL>
                    <a:lnR w="12700" cap="flat" cmpd="sng" algn="ctr">
                      <a:solidFill>
                        <a:srgbClr val="BFD3D8"/>
                      </a:solidFill>
                      <a:prstDash val="solid"/>
                      <a:round/>
                      <a:headEnd type="none" w="med" len="med"/>
                      <a:tailEnd type="none" w="med" len="med"/>
                    </a:lnR>
                    <a:lnT w="12700" cap="flat" cmpd="sng" algn="ctr">
                      <a:solidFill>
                        <a:srgbClr val="BFD3D8"/>
                      </a:solidFill>
                      <a:prstDash val="solid"/>
                      <a:round/>
                      <a:headEnd type="none" w="med" len="med"/>
                      <a:tailEnd type="none" w="med" len="med"/>
                    </a:lnT>
                    <a:lnB w="12700" cap="flat" cmpd="sng" algn="ctr">
                      <a:solidFill>
                        <a:srgbClr val="FAF9F5"/>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0"/>
                  </a:ext>
                </a:extLst>
              </a:tr>
              <a:tr h="545520">
                <a:tc>
                  <a:txBody>
                    <a:bodyPr/>
                    <a:lstStyle/>
                    <a:p>
                      <a:pPr marL="0" indent="0" algn="l">
                        <a:buNone/>
                      </a:pPr>
                      <a:r>
                        <a:rPr lang="en-US" sz="1450" dirty="0">
                          <a:solidFill>
                            <a:srgbClr val="384653"/>
                          </a:solidFill>
                          <a:latin typeface="Roboto" pitchFamily="34" charset="0"/>
                          <a:ea typeface="Roboto" pitchFamily="34" charset="-122"/>
                          <a:cs typeface="Roboto" pitchFamily="34" charset="-120"/>
                        </a:rPr>
                        <a:t>co2</a:t>
                      </a:r>
                      <a:endParaRPr lang="en-US" sz="1450" dirty="0">
                        <a:latin typeface="Roboto" charset="0"/>
                        <a:ea typeface="Roboto" charset="0"/>
                        <a:cs typeface="Roboto" charset="0"/>
                      </a:endParaRPr>
                    </a:p>
                  </a:txBody>
                  <a:tcPr marL="189018" marR="189018" marT="6350" marB="6350" anchor="ctr">
                    <a:lnL w="12700" cap="flat" cmpd="sng" algn="ctr">
                      <a:solidFill>
                        <a:srgbClr val="BFD3D8"/>
                      </a:solidFill>
                      <a:prstDash val="solid"/>
                      <a:round/>
                      <a:headEnd type="none" w="med" len="med"/>
                      <a:tailEnd type="none" w="med" len="med"/>
                    </a:lnL>
                    <a:lnR w="12700" cap="flat" cmpd="sng" algn="ctr">
                      <a:solidFill>
                        <a:srgbClr val="F0EFEB"/>
                      </a:solidFill>
                      <a:prstDash val="solid"/>
                      <a:round/>
                      <a:headEnd type="none" w="med" len="med"/>
                      <a:tailEnd type="none" w="med" len="med"/>
                    </a:lnR>
                    <a:lnT w="12700" cap="flat" cmpd="sng" algn="ctr">
                      <a:solidFill>
                        <a:srgbClr val="FAF9F5"/>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000000">
                        <a:alpha val="4000"/>
                      </a:srgbClr>
                    </a:solidFill>
                  </a:tcPr>
                </a:tc>
                <a:tc>
                  <a:txBody>
                    <a:bodyPr/>
                    <a:lstStyle/>
                    <a:p>
                      <a:pPr marL="294640" indent="-294640" algn="l">
                        <a:buSzPct val="100000"/>
                        <a:buChar char="•"/>
                      </a:pPr>
                      <a:r>
                        <a:rPr lang="en-US" sz="1450" dirty="0">
                          <a:solidFill>
                            <a:srgbClr val="384653"/>
                          </a:solidFill>
                          <a:latin typeface="Roboto" pitchFamily="34" charset="0"/>
                          <a:ea typeface="Roboto" pitchFamily="34" charset="-122"/>
                          <a:cs typeface="Roboto" pitchFamily="34" charset="-120"/>
                        </a:rPr>
                        <a:t>Applying java control-flow statements such as conditional statements, switch, and loops to solve problems.</a:t>
                      </a:r>
                      <a:endParaRPr lang="en-US" sz="1450" dirty="0">
                        <a:latin typeface="Roboto" charset="0"/>
                        <a:ea typeface="Roboto" charset="0"/>
                        <a:cs typeface="Roboto" charset="0"/>
                      </a:endParaRPr>
                    </a:p>
                  </a:txBody>
                  <a:tcPr marL="189018" marR="189018" marT="6350" marB="6350" anchor="ctr">
                    <a:lnL w="12700" cap="flat" cmpd="sng" algn="ctr">
                      <a:solidFill>
                        <a:srgbClr val="F0EFEB"/>
                      </a:solidFill>
                      <a:prstDash val="solid"/>
                      <a:round/>
                      <a:headEnd type="none" w="med" len="med"/>
                      <a:tailEnd type="none" w="med" len="med"/>
                    </a:lnL>
                    <a:lnR w="12700" cap="flat" cmpd="sng" algn="ctr">
                      <a:solidFill>
                        <a:srgbClr val="BFD3D8"/>
                      </a:solidFill>
                      <a:prstDash val="solid"/>
                      <a:round/>
                      <a:headEnd type="none" w="med" len="med"/>
                      <a:tailEnd type="none" w="med" len="med"/>
                    </a:lnR>
                    <a:lnT w="12700" cap="flat" cmpd="sng" algn="ctr">
                      <a:solidFill>
                        <a:srgbClr val="FAF9F5"/>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751788">
                <a:tc>
                  <a:txBody>
                    <a:bodyPr/>
                    <a:lstStyle/>
                    <a:p>
                      <a:pPr marL="0" indent="0" algn="l">
                        <a:buNone/>
                      </a:pPr>
                      <a:r>
                        <a:rPr lang="en-US" sz="1450" dirty="0">
                          <a:solidFill>
                            <a:srgbClr val="384653"/>
                          </a:solidFill>
                          <a:latin typeface="Roboto" pitchFamily="34" charset="0"/>
                          <a:ea typeface="Roboto" pitchFamily="34" charset="-122"/>
                          <a:cs typeface="Roboto" pitchFamily="34" charset="-120"/>
                        </a:rPr>
                        <a:t>co3</a:t>
                      </a:r>
                      <a:endParaRPr lang="en-US" sz="1450" dirty="0">
                        <a:latin typeface="Roboto" charset="0"/>
                        <a:ea typeface="Roboto" charset="0"/>
                        <a:cs typeface="Roboto" charset="0"/>
                      </a:endParaRPr>
                    </a:p>
                  </a:txBody>
                  <a:tcPr marL="189018" marR="189018" marT="6350" marB="6350" anchor="ctr">
                    <a:lnL w="12700" cap="flat" cmpd="sng" algn="ctr">
                      <a:solidFill>
                        <a:srgbClr val="BFD3D8"/>
                      </a:solidFill>
                      <a:prstDash val="solid"/>
                      <a:round/>
                      <a:headEnd type="none" w="med" len="med"/>
                      <a:tailEnd type="none" w="med" len="med"/>
                    </a:lnL>
                    <a:lnR w="12700" cap="flat" cmpd="sng" algn="ctr">
                      <a:solidFill>
                        <a:srgbClr val="FAF9F5"/>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FFFFFF">
                        <a:alpha val="4000"/>
                      </a:srgbClr>
                    </a:solidFill>
                  </a:tcPr>
                </a:tc>
                <a:tc>
                  <a:txBody>
                    <a:bodyPr/>
                    <a:lstStyle/>
                    <a:p>
                      <a:pPr marL="294640" indent="-294640" algn="l">
                        <a:buSzPct val="100000"/>
                        <a:buChar char="•"/>
                      </a:pPr>
                      <a:r>
                        <a:rPr lang="en-US" sz="1450" dirty="0">
                          <a:solidFill>
                            <a:srgbClr val="384653"/>
                          </a:solidFill>
                          <a:latin typeface="Roboto" pitchFamily="34" charset="0"/>
                          <a:ea typeface="Roboto" pitchFamily="34" charset="-122"/>
                          <a:cs typeface="Roboto" pitchFamily="34" charset="-120"/>
                        </a:rPr>
                        <a:t>Developing modular Java programs using methods, recursion, 1D and 2D arrays, and basic array-processing techniques.</a:t>
                      </a:r>
                      <a:endParaRPr lang="en-US" sz="1450" dirty="0">
                        <a:latin typeface="Roboto" charset="0"/>
                        <a:ea typeface="Roboto" charset="0"/>
                        <a:cs typeface="Roboto" charset="0"/>
                      </a:endParaRPr>
                    </a:p>
                  </a:txBody>
                  <a:tcPr marL="189018" marR="189018" marT="6350" marB="6350" anchor="ctr">
                    <a:lnL w="12700" cap="flat" cmpd="sng" algn="ctr">
                      <a:solidFill>
                        <a:srgbClr val="FAF9F5"/>
                      </a:solidFill>
                      <a:prstDash val="solid"/>
                      <a:round/>
                      <a:headEnd type="none" w="med" len="med"/>
                      <a:tailEnd type="none" w="med" len="med"/>
                    </a:lnL>
                    <a:lnR w="12700" cap="flat" cmpd="sng" algn="ctr">
                      <a:solidFill>
                        <a:srgbClr val="BFD3D8"/>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751788">
                <a:tc>
                  <a:txBody>
                    <a:bodyPr/>
                    <a:lstStyle/>
                    <a:p>
                      <a:pPr marL="0" indent="0" algn="l">
                        <a:buNone/>
                      </a:pPr>
                      <a:r>
                        <a:rPr lang="en-US" sz="1450" dirty="0">
                          <a:latin typeface="Roboto" charset="0"/>
                          <a:ea typeface="Roboto" charset="0"/>
                          <a:cs typeface="Roboto" charset="0"/>
                        </a:rPr>
                        <a:t>co4</a:t>
                      </a:r>
                    </a:p>
                  </a:txBody>
                  <a:tcPr marL="189018" marR="189018" marT="6350" marB="6350" anchor="ctr">
                    <a:lnL w="12700" cap="flat" cmpd="sng" algn="ctr">
                      <a:solidFill>
                        <a:srgbClr val="BFD3D8"/>
                      </a:solidFill>
                      <a:prstDash val="solid"/>
                      <a:round/>
                      <a:headEnd type="none" w="med" len="med"/>
                      <a:tailEnd type="none" w="med" len="med"/>
                    </a:lnL>
                    <a:lnR w="12700" cap="flat" cmpd="sng" algn="ctr">
                      <a:solidFill>
                        <a:srgbClr val="FAF9F5"/>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FFFFFF">
                        <a:alpha val="4000"/>
                      </a:srgbClr>
                    </a:solidFill>
                  </a:tcPr>
                </a:tc>
                <a:tc>
                  <a:txBody>
                    <a:bodyPr/>
                    <a:lstStyle/>
                    <a:p>
                      <a:pPr lvl="0"/>
                      <a:r>
                        <a:rPr lang="en-IN" sz="2800" dirty="0"/>
                        <a:t>.</a:t>
                      </a:r>
                      <a:r>
                        <a:rPr lang="en-IN" sz="1600" dirty="0">
                          <a:solidFill>
                            <a:schemeClr val="tx2">
                              <a:lumMod val="75000"/>
                            </a:schemeClr>
                          </a:solidFill>
                        </a:rPr>
                        <a:t>Object-oriented programming, classes, objects, inheritance,       encapsulation and exception handling</a:t>
                      </a:r>
                      <a:r>
                        <a:rPr lang="en-IN" sz="1600" dirty="0"/>
                        <a:t>.</a:t>
                      </a:r>
                    </a:p>
                    <a:p>
                      <a:pPr marL="294640" indent="-294640" algn="l">
                        <a:buSzPct val="100000"/>
                        <a:buChar char="•"/>
                      </a:pPr>
                      <a:endParaRPr lang="en-US" sz="1450" dirty="0">
                        <a:latin typeface="Roboto" charset="0"/>
                        <a:ea typeface="Roboto" charset="0"/>
                        <a:cs typeface="Roboto" charset="0"/>
                      </a:endParaRPr>
                    </a:p>
                  </a:txBody>
                  <a:tcPr marL="189018" marR="189018" marT="6350" marB="6350" anchor="ctr">
                    <a:lnL w="12700" cap="flat" cmpd="sng" algn="ctr">
                      <a:solidFill>
                        <a:srgbClr val="FAF9F5"/>
                      </a:solidFill>
                      <a:prstDash val="solid"/>
                      <a:round/>
                      <a:headEnd type="none" w="med" len="med"/>
                      <a:tailEnd type="none" w="med" len="med"/>
                    </a:lnL>
                    <a:lnR w="12700" cap="flat" cmpd="sng" algn="ctr">
                      <a:solidFill>
                        <a:srgbClr val="BFD3D8"/>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218272557"/>
                  </a:ext>
                </a:extLst>
              </a:tr>
              <a:tr h="751788">
                <a:tc>
                  <a:txBody>
                    <a:bodyPr/>
                    <a:lstStyle/>
                    <a:p>
                      <a:pPr marL="0" indent="0" algn="l">
                        <a:buNone/>
                      </a:pPr>
                      <a:r>
                        <a:rPr lang="en-US" sz="1450" dirty="0">
                          <a:solidFill>
                            <a:schemeClr val="tx2">
                              <a:lumMod val="75000"/>
                            </a:schemeClr>
                          </a:solidFill>
                          <a:latin typeface="Roboto" charset="0"/>
                          <a:ea typeface="Roboto" charset="0"/>
                          <a:cs typeface="Roboto" charset="0"/>
                        </a:rPr>
                        <a:t>co5</a:t>
                      </a:r>
                    </a:p>
                  </a:txBody>
                  <a:tcPr marL="189018" marR="189018" marT="6350" marB="6350" anchor="ctr">
                    <a:lnL w="12700" cap="flat" cmpd="sng" algn="ctr">
                      <a:solidFill>
                        <a:srgbClr val="BFD3D8"/>
                      </a:solidFill>
                      <a:prstDash val="solid"/>
                      <a:round/>
                      <a:headEnd type="none" w="med" len="med"/>
                      <a:tailEnd type="none" w="med" len="med"/>
                    </a:lnL>
                    <a:lnR w="12700" cap="flat" cmpd="sng" algn="ctr">
                      <a:solidFill>
                        <a:srgbClr val="FAF9F5"/>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FFFFFF">
                        <a:alpha val="4000"/>
                      </a:srgbClr>
                    </a:solidFill>
                  </a:tcPr>
                </a:tc>
                <a:tc>
                  <a:txBody>
                    <a:bodyPr/>
                    <a:lstStyle/>
                    <a:p>
                      <a:pPr lvl="0"/>
                      <a:r>
                        <a:rPr lang="en-IN" sz="2800" dirty="0">
                          <a:solidFill>
                            <a:schemeClr val="tx2">
                              <a:lumMod val="75000"/>
                            </a:schemeClr>
                          </a:solidFill>
                        </a:rPr>
                        <a:t>.</a:t>
                      </a:r>
                      <a:r>
                        <a:rPr lang="en-IN" sz="1600" dirty="0">
                          <a:solidFill>
                            <a:schemeClr val="tx2">
                              <a:lumMod val="75000"/>
                            </a:schemeClr>
                          </a:solidFill>
                        </a:rPr>
                        <a:t>String manipulation, searching, sorting and file handling.</a:t>
                      </a:r>
                    </a:p>
                    <a:p>
                      <a:pPr marL="294640" indent="-294640" algn="l">
                        <a:buSzPct val="100000"/>
                        <a:buChar char="•"/>
                      </a:pPr>
                      <a:endParaRPr lang="en-US" sz="1450" dirty="0">
                        <a:latin typeface="Roboto" charset="0"/>
                        <a:ea typeface="Roboto" charset="0"/>
                        <a:cs typeface="Roboto" charset="0"/>
                      </a:endParaRPr>
                    </a:p>
                  </a:txBody>
                  <a:tcPr marL="189018" marR="189018" marT="6350" marB="6350" anchor="ctr">
                    <a:lnL w="12700" cap="flat" cmpd="sng" algn="ctr">
                      <a:solidFill>
                        <a:srgbClr val="FAF9F5"/>
                      </a:solidFill>
                      <a:prstDash val="solid"/>
                      <a:round/>
                      <a:headEnd type="none" w="med" len="med"/>
                      <a:tailEnd type="none" w="med" len="med"/>
                    </a:lnL>
                    <a:lnR w="12700" cap="flat" cmpd="sng" algn="ctr">
                      <a:solidFill>
                        <a:srgbClr val="BFD3D8"/>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F0EFEB"/>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820464749"/>
                  </a:ext>
                </a:extLst>
              </a:tr>
              <a:tr h="751788">
                <a:tc>
                  <a:txBody>
                    <a:bodyPr/>
                    <a:lstStyle/>
                    <a:p>
                      <a:pPr marL="0" indent="0" algn="l">
                        <a:buNone/>
                      </a:pPr>
                      <a:r>
                        <a:rPr lang="en-US" sz="1450" dirty="0">
                          <a:solidFill>
                            <a:schemeClr val="tx2">
                              <a:lumMod val="75000"/>
                            </a:schemeClr>
                          </a:solidFill>
                          <a:latin typeface="Roboto" charset="0"/>
                          <a:ea typeface="Roboto" charset="0"/>
                          <a:cs typeface="Roboto" charset="0"/>
                        </a:rPr>
                        <a:t>co6</a:t>
                      </a:r>
                    </a:p>
                  </a:txBody>
                  <a:tcPr marL="189018" marR="189018" marT="6350" marB="6350" anchor="ctr">
                    <a:lnL w="12700" cap="flat" cmpd="sng" algn="ctr">
                      <a:solidFill>
                        <a:srgbClr val="BFD3D8"/>
                      </a:solidFill>
                      <a:prstDash val="solid"/>
                      <a:round/>
                      <a:headEnd type="none" w="med" len="med"/>
                      <a:tailEnd type="none" w="med" len="med"/>
                    </a:lnL>
                    <a:lnR w="12700" cap="flat" cmpd="sng" algn="ctr">
                      <a:solidFill>
                        <a:srgbClr val="FAF9F5"/>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BFD3D8"/>
                      </a:solidFill>
                      <a:prstDash val="solid"/>
                      <a:round/>
                      <a:headEnd type="none" w="med" len="med"/>
                      <a:tailEnd type="none" w="med" len="med"/>
                    </a:lnB>
                    <a:solidFill>
                      <a:srgbClr val="FFFFFF">
                        <a:alpha val="4000"/>
                      </a:srgbClr>
                    </a:solidFill>
                  </a:tcPr>
                </a:tc>
                <a:tc>
                  <a:txBody>
                    <a:bodyPr/>
                    <a:lstStyle/>
                    <a:p>
                      <a:pPr lvl="0"/>
                      <a:r>
                        <a:rPr lang="en-IN" sz="3200" dirty="0">
                          <a:solidFill>
                            <a:schemeClr val="tx2">
                              <a:lumMod val="75000"/>
                            </a:schemeClr>
                          </a:solidFill>
                        </a:rPr>
                        <a:t>.</a:t>
                      </a:r>
                      <a:r>
                        <a:rPr lang="en-IN" sz="1600" dirty="0">
                          <a:solidFill>
                            <a:schemeClr val="tx2">
                              <a:lumMod val="75000"/>
                            </a:schemeClr>
                          </a:solidFill>
                        </a:rPr>
                        <a:t> Collections, generics, lambda expressions and stream processing.</a:t>
                      </a:r>
                    </a:p>
                    <a:p>
                      <a:pPr marL="294640" indent="-294640" algn="l">
                        <a:buSzPct val="100000"/>
                        <a:buChar char="•"/>
                      </a:pPr>
                      <a:endParaRPr lang="en-US" sz="1450" dirty="0">
                        <a:latin typeface="Roboto" charset="0"/>
                        <a:ea typeface="Roboto" charset="0"/>
                        <a:cs typeface="Roboto" charset="0"/>
                      </a:endParaRPr>
                    </a:p>
                  </a:txBody>
                  <a:tcPr marL="189018" marR="189018" marT="6350" marB="6350" anchor="ctr">
                    <a:lnL w="12700" cap="flat" cmpd="sng" algn="ctr">
                      <a:solidFill>
                        <a:srgbClr val="FAF9F5"/>
                      </a:solidFill>
                      <a:prstDash val="solid"/>
                      <a:round/>
                      <a:headEnd type="none" w="med" len="med"/>
                      <a:tailEnd type="none" w="med" len="med"/>
                    </a:lnL>
                    <a:lnR w="12700" cap="flat" cmpd="sng" algn="ctr">
                      <a:solidFill>
                        <a:srgbClr val="BFD3D8"/>
                      </a:solidFill>
                      <a:prstDash val="solid"/>
                      <a:round/>
                      <a:headEnd type="none" w="med" len="med"/>
                      <a:tailEnd type="none" w="med" len="med"/>
                    </a:lnR>
                    <a:lnT w="12700" cap="flat" cmpd="sng" algn="ctr">
                      <a:solidFill>
                        <a:srgbClr val="F0EFEB"/>
                      </a:solidFill>
                      <a:prstDash val="solid"/>
                      <a:round/>
                      <a:headEnd type="none" w="med" len="med"/>
                      <a:tailEnd type="none" w="med" len="med"/>
                    </a:lnT>
                    <a:lnB w="12700" cap="flat" cmpd="sng" algn="ctr">
                      <a:solidFill>
                        <a:srgbClr val="BFD3D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2702065257"/>
                  </a:ext>
                </a:extLst>
              </a:tr>
            </a:tbl>
          </a:graphicData>
        </a:graphic>
      </p:graphicFrame>
      <p:sp>
        <p:nvSpPr>
          <p:cNvPr id="6" name="Text 1"/>
          <p:cNvSpPr/>
          <p:nvPr/>
        </p:nvSpPr>
        <p:spPr>
          <a:xfrm>
            <a:off x="661475" y="4996954"/>
            <a:ext cx="6296860" cy="779562"/>
          </a:xfrm>
          <a:prstGeom prst="rect">
            <a:avLst/>
          </a:prstGeom>
          <a:noFill/>
          <a:ln/>
        </p:spPr>
        <p:txBody>
          <a:bodyPr wrap="square" lIns="0" tIns="0" rIns="0" bIns="0" rtlCol="0" anchor="t"/>
          <a:lstStyle/>
          <a:p>
            <a:pPr marL="0" indent="0" algn="l">
              <a:lnSpc>
                <a:spcPct val="125000"/>
              </a:lnSpc>
              <a:spcAft>
                <a:spcPts val="1650"/>
              </a:spcAft>
              <a:buNone/>
            </a:pPr>
            <a:endParaRPr lang="en-US" sz="1450" dirty="0"/>
          </a:p>
        </p:txBody>
      </p:sp>
      <p:pic>
        <p:nvPicPr>
          <p:cNvPr id="9" name="Picture 8">
            <a:extLst>
              <a:ext uri="{FF2B5EF4-FFF2-40B4-BE49-F238E27FC236}">
                <a16:creationId xmlns:a16="http://schemas.microsoft.com/office/drawing/2014/main" id="{3722BAAE-56D8-2635-2978-E798633E1ABB}"/>
              </a:ext>
            </a:extLst>
          </p:cNvPr>
          <p:cNvPicPr>
            <a:picLocks noChangeAspect="1"/>
          </p:cNvPicPr>
          <p:nvPr/>
        </p:nvPicPr>
        <p:blipFill>
          <a:blip r:embed="rId5"/>
          <a:stretch>
            <a:fillRect/>
          </a:stretch>
        </p:blipFill>
        <p:spPr>
          <a:xfrm>
            <a:off x="1" y="0"/>
            <a:ext cx="1206694" cy="487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625B39B8-CE49-8DA3-55A9-CF99D16A09D6}"/>
              </a:ext>
            </a:extLst>
          </p:cNvPr>
          <p:cNvSpPr/>
          <p:nvPr/>
        </p:nvSpPr>
        <p:spPr>
          <a:xfrm>
            <a:off x="0" y="0"/>
            <a:ext cx="6872033" cy="6858000"/>
          </a:xfrm>
          <a:prstGeom prst="parallelogram">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068D7C05-BA98-2A5A-3A6A-406A779EFC41}"/>
              </a:ext>
            </a:extLst>
          </p:cNvPr>
          <p:cNvPicPr>
            <a:picLocks noChangeAspect="1"/>
          </p:cNvPicPr>
          <p:nvPr/>
        </p:nvPicPr>
        <p:blipFill>
          <a:blip r:embed="rId2"/>
          <a:stretch>
            <a:fillRect/>
          </a:stretch>
        </p:blipFill>
        <p:spPr>
          <a:xfrm>
            <a:off x="210209" y="505741"/>
            <a:ext cx="6549405" cy="5524670"/>
          </a:xfrm>
          <a:prstGeom prst="parallelogram">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8EECD4AF-5CFA-3593-3329-ABB87ACC6A09}"/>
              </a:ext>
            </a:extLst>
          </p:cNvPr>
          <p:cNvSpPr txBox="1"/>
          <p:nvPr/>
        </p:nvSpPr>
        <p:spPr>
          <a:xfrm>
            <a:off x="6617368" y="926912"/>
            <a:ext cx="6142341" cy="4339650"/>
          </a:xfrm>
          <a:prstGeom prst="rect">
            <a:avLst/>
          </a:prstGeom>
          <a:noFill/>
        </p:spPr>
        <p:txBody>
          <a:bodyPr wrap="square" rtlCol="0">
            <a:spAutoFit/>
          </a:bodyPr>
          <a:lstStyle/>
          <a:p>
            <a:pPr lvl="0"/>
            <a:r>
              <a:rPr lang="en-IN" sz="2400" b="1" u="sng" dirty="0">
                <a:solidFill>
                  <a:schemeClr val="tx2">
                    <a:lumMod val="75000"/>
                  </a:schemeClr>
                </a:solidFill>
              </a:rPr>
              <a:t>Topics covered</a:t>
            </a:r>
            <a:br>
              <a:rPr lang="en-IN" dirty="0">
                <a:solidFill>
                  <a:schemeClr val="tx2">
                    <a:lumMod val="75000"/>
                  </a:schemeClr>
                </a:solidFill>
              </a:rPr>
            </a:br>
            <a:r>
              <a:rPr lang="en-IN" b="1" dirty="0">
                <a:solidFill>
                  <a:schemeClr val="tx2">
                    <a:lumMod val="75000"/>
                  </a:schemeClr>
                </a:solidFill>
              </a:rPr>
              <a:t>Module</a:t>
            </a:r>
            <a:r>
              <a:rPr lang="en-IN" dirty="0">
                <a:solidFill>
                  <a:schemeClr val="tx2">
                    <a:lumMod val="75000"/>
                  </a:schemeClr>
                </a:solidFill>
              </a:rPr>
              <a:t> </a:t>
            </a:r>
            <a:r>
              <a:rPr lang="en-IN" b="1" dirty="0">
                <a:solidFill>
                  <a:schemeClr val="tx2">
                    <a:lumMod val="75000"/>
                  </a:schemeClr>
                </a:solidFill>
              </a:rPr>
              <a:t>Concepts used in the clinic app</a:t>
            </a:r>
          </a:p>
          <a:p>
            <a:pPr lvl="0"/>
            <a:br>
              <a:rPr lang="en-IN" dirty="0">
                <a:solidFill>
                  <a:schemeClr val="tx2">
                    <a:lumMod val="75000"/>
                  </a:schemeClr>
                </a:solidFill>
              </a:rPr>
            </a:br>
            <a:r>
              <a:rPr lang="en-IN" b="1" dirty="0">
                <a:solidFill>
                  <a:schemeClr val="tx2">
                    <a:lumMod val="75000"/>
                  </a:schemeClr>
                </a:solidFill>
              </a:rPr>
              <a:t>Module 1</a:t>
            </a:r>
            <a:r>
              <a:rPr lang="en-IN" dirty="0">
                <a:solidFill>
                  <a:schemeClr val="tx2">
                    <a:lumMod val="75000"/>
                  </a:schemeClr>
                </a:solidFill>
              </a:rPr>
              <a:t> Variables, data types, operators, Scanner, input/output</a:t>
            </a:r>
          </a:p>
          <a:p>
            <a:pPr lvl="0"/>
            <a:br>
              <a:rPr lang="en-IN" dirty="0">
                <a:solidFill>
                  <a:schemeClr val="tx2">
                    <a:lumMod val="75000"/>
                  </a:schemeClr>
                </a:solidFill>
              </a:rPr>
            </a:br>
            <a:r>
              <a:rPr lang="en-IN" b="1" dirty="0">
                <a:solidFill>
                  <a:schemeClr val="tx2">
                    <a:lumMod val="75000"/>
                  </a:schemeClr>
                </a:solidFill>
              </a:rPr>
              <a:t>Module 2</a:t>
            </a:r>
            <a:r>
              <a:rPr lang="en-IN" dirty="0">
                <a:solidFill>
                  <a:schemeClr val="tx2">
                    <a:lumMod val="75000"/>
                  </a:schemeClr>
                </a:solidFill>
              </a:rPr>
              <a:t> if-else, switch, while loops</a:t>
            </a:r>
          </a:p>
          <a:p>
            <a:pPr lvl="0"/>
            <a:br>
              <a:rPr lang="en-IN" dirty="0">
                <a:solidFill>
                  <a:schemeClr val="tx2">
                    <a:lumMod val="75000"/>
                  </a:schemeClr>
                </a:solidFill>
              </a:rPr>
            </a:br>
            <a:r>
              <a:rPr lang="en-IN" b="1" dirty="0">
                <a:solidFill>
                  <a:schemeClr val="tx2">
                    <a:lumMod val="75000"/>
                  </a:schemeClr>
                </a:solidFill>
              </a:rPr>
              <a:t>Module 3</a:t>
            </a:r>
            <a:r>
              <a:rPr lang="en-IN" dirty="0">
                <a:solidFill>
                  <a:schemeClr val="tx2">
                    <a:lumMod val="75000"/>
                  </a:schemeClr>
                </a:solidFill>
              </a:rPr>
              <a:t> Methods, parameters, return values, arrays</a:t>
            </a:r>
          </a:p>
          <a:p>
            <a:pPr lvl="0"/>
            <a:br>
              <a:rPr lang="en-IN" dirty="0">
                <a:solidFill>
                  <a:schemeClr val="tx2">
                    <a:lumMod val="75000"/>
                  </a:schemeClr>
                </a:solidFill>
              </a:rPr>
            </a:br>
            <a:r>
              <a:rPr lang="en-IN" b="1" dirty="0">
                <a:solidFill>
                  <a:schemeClr val="tx2">
                    <a:lumMod val="75000"/>
                  </a:schemeClr>
                </a:solidFill>
              </a:rPr>
              <a:t>Module 4</a:t>
            </a:r>
            <a:r>
              <a:rPr lang="en-IN" dirty="0">
                <a:solidFill>
                  <a:schemeClr val="tx2">
                    <a:lumMod val="75000"/>
                  </a:schemeClr>
                </a:solidFill>
              </a:rPr>
              <a:t> Classes &amp; Objects, constructors, encapsulation</a:t>
            </a:r>
          </a:p>
          <a:p>
            <a:pPr lvl="0"/>
            <a:br>
              <a:rPr lang="en-IN" dirty="0">
                <a:solidFill>
                  <a:schemeClr val="tx2">
                    <a:lumMod val="75000"/>
                  </a:schemeClr>
                </a:solidFill>
              </a:rPr>
            </a:br>
            <a:r>
              <a:rPr lang="en-IN" b="1" dirty="0">
                <a:solidFill>
                  <a:schemeClr val="tx2">
                    <a:lumMod val="75000"/>
                  </a:schemeClr>
                </a:solidFill>
              </a:rPr>
              <a:t>Module 5</a:t>
            </a:r>
            <a:r>
              <a:rPr lang="en-IN" dirty="0">
                <a:solidFill>
                  <a:schemeClr val="tx2">
                    <a:lumMod val="75000"/>
                  </a:schemeClr>
                </a:solidFill>
              </a:rPr>
              <a:t> Inheritance, method overriding, polymorphism</a:t>
            </a:r>
          </a:p>
          <a:p>
            <a:pPr lvl="0"/>
            <a:br>
              <a:rPr lang="en-IN" dirty="0">
                <a:solidFill>
                  <a:schemeClr val="tx2">
                    <a:lumMod val="75000"/>
                  </a:schemeClr>
                </a:solidFill>
              </a:rPr>
            </a:br>
            <a:r>
              <a:rPr lang="en-IN" b="1" dirty="0">
                <a:solidFill>
                  <a:schemeClr val="tx2">
                    <a:lumMod val="75000"/>
                  </a:schemeClr>
                </a:solidFill>
              </a:rPr>
              <a:t>Module 6</a:t>
            </a:r>
            <a:r>
              <a:rPr lang="en-IN" dirty="0">
                <a:solidFill>
                  <a:schemeClr val="tx2">
                    <a:lumMod val="75000"/>
                  </a:schemeClr>
                </a:solidFill>
              </a:rPr>
              <a:t> Exception handling, storing data</a:t>
            </a:r>
          </a:p>
        </p:txBody>
      </p:sp>
      <p:pic>
        <p:nvPicPr>
          <p:cNvPr id="9" name="Picture 8">
            <a:extLst>
              <a:ext uri="{FF2B5EF4-FFF2-40B4-BE49-F238E27FC236}">
                <a16:creationId xmlns:a16="http://schemas.microsoft.com/office/drawing/2014/main" id="{001CDDEF-87B2-F270-6F80-9746A263863C}"/>
              </a:ext>
            </a:extLst>
          </p:cNvPr>
          <p:cNvPicPr>
            <a:picLocks noChangeAspect="1"/>
          </p:cNvPicPr>
          <p:nvPr/>
        </p:nvPicPr>
        <p:blipFill>
          <a:blip r:embed="rId3"/>
          <a:stretch>
            <a:fillRect/>
          </a:stretch>
        </p:blipFill>
        <p:spPr>
          <a:xfrm>
            <a:off x="1" y="0"/>
            <a:ext cx="1206694" cy="487680"/>
          </a:xfrm>
          <a:prstGeom prst="rect">
            <a:avLst/>
          </a:prstGeom>
        </p:spPr>
      </p:pic>
    </p:spTree>
    <p:extLst>
      <p:ext uri="{BB962C8B-B14F-4D97-AF65-F5344CB8AC3E}">
        <p14:creationId xmlns:p14="http://schemas.microsoft.com/office/powerpoint/2010/main" val="761041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1E776D3-A09E-96FC-528B-FCC8E3983834}"/>
              </a:ext>
            </a:extLst>
          </p:cNvPr>
          <p:cNvSpPr/>
          <p:nvPr/>
        </p:nvSpPr>
        <p:spPr>
          <a:xfrm>
            <a:off x="603348" y="243840"/>
            <a:ext cx="11125200" cy="5989320"/>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3C10AA3C-FC1D-B155-30CF-4653F5A0EC08}"/>
              </a:ext>
            </a:extLst>
          </p:cNvPr>
          <p:cNvSpPr txBox="1"/>
          <p:nvPr/>
        </p:nvSpPr>
        <p:spPr>
          <a:xfrm>
            <a:off x="1508760" y="1530340"/>
            <a:ext cx="9174479" cy="3416320"/>
          </a:xfrm>
          <a:prstGeom prst="rect">
            <a:avLst/>
          </a:prstGeom>
          <a:noFill/>
        </p:spPr>
        <p:txBody>
          <a:bodyPr wrap="square" rtlCol="0">
            <a:spAutoFit/>
          </a:bodyPr>
          <a:lstStyle/>
          <a:p>
            <a:r>
              <a:rPr lang="en-IN" sz="3600" b="1" dirty="0"/>
              <a:t>Project Development</a:t>
            </a:r>
          </a:p>
          <a:p>
            <a:r>
              <a:rPr lang="en-IN" dirty="0"/>
              <a:t>The Clinic Appointment and Prescription Manager was developed using Java in Visual Studio Code (VS Code). The project uses the Scanner class to take input from the user and arrays to store patient, appointment, doctor, and prescription details. The system was developed using a modular and menu-driven approach, where different tasks such as booking appointments, searching patients, selecting doctors, creating prescriptions, and managing records are handled through separate methods. The project uses a console-based interface, allowing users to interact with the system through simple menu options and text input. The development was carried out step by step, starting with patient registration and appointment management, followed by doctor selection and prescription management.</a:t>
            </a:r>
          </a:p>
          <a:p>
            <a:endParaRPr lang="en-IN" dirty="0"/>
          </a:p>
        </p:txBody>
      </p:sp>
      <p:pic>
        <p:nvPicPr>
          <p:cNvPr id="7" name="Picture 6">
            <a:extLst>
              <a:ext uri="{FF2B5EF4-FFF2-40B4-BE49-F238E27FC236}">
                <a16:creationId xmlns:a16="http://schemas.microsoft.com/office/drawing/2014/main" id="{82078309-A12A-3AA6-57C1-6FF154DBC6F3}"/>
              </a:ext>
            </a:extLst>
          </p:cNvPr>
          <p:cNvPicPr>
            <a:picLocks noChangeAspect="1"/>
          </p:cNvPicPr>
          <p:nvPr/>
        </p:nvPicPr>
        <p:blipFill>
          <a:blip r:embed="rId2"/>
          <a:stretch>
            <a:fillRect/>
          </a:stretch>
        </p:blipFill>
        <p:spPr>
          <a:xfrm>
            <a:off x="1" y="0"/>
            <a:ext cx="1206694" cy="487680"/>
          </a:xfrm>
          <a:prstGeom prst="rect">
            <a:avLst/>
          </a:prstGeom>
        </p:spPr>
      </p:pic>
    </p:spTree>
    <p:extLst>
      <p:ext uri="{BB962C8B-B14F-4D97-AF65-F5344CB8AC3E}">
        <p14:creationId xmlns:p14="http://schemas.microsoft.com/office/powerpoint/2010/main" val="975303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62F07E-2F52-9EEB-3CFC-21A34276061B}"/>
              </a:ext>
            </a:extLst>
          </p:cNvPr>
          <p:cNvSpPr/>
          <p:nvPr/>
        </p:nvSpPr>
        <p:spPr>
          <a:xfrm rot="5400000">
            <a:off x="6256020" y="922019"/>
            <a:ext cx="6858001" cy="5013959"/>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chemeClr val="accent1">
                  <a:lumMod val="40000"/>
                  <a:lumOff val="60000"/>
                </a:schemeClr>
              </a:solidFill>
            </a:endParaRPr>
          </a:p>
        </p:txBody>
      </p:sp>
      <p:pic>
        <p:nvPicPr>
          <p:cNvPr id="4" name="Graphic 3" descr="Stethoscope with solid fill">
            <a:extLst>
              <a:ext uri="{FF2B5EF4-FFF2-40B4-BE49-F238E27FC236}">
                <a16:creationId xmlns:a16="http://schemas.microsoft.com/office/drawing/2014/main" id="{AED3A788-CDB4-D620-1EDC-76F42F5F6B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75960" y="167640"/>
            <a:ext cx="3261360" cy="3261360"/>
          </a:xfrm>
          <a:prstGeom prst="rect">
            <a:avLst/>
          </a:prstGeom>
        </p:spPr>
      </p:pic>
      <p:pic>
        <p:nvPicPr>
          <p:cNvPr id="12" name="Graphic 11" descr="Needle with solid fill">
            <a:extLst>
              <a:ext uri="{FF2B5EF4-FFF2-40B4-BE49-F238E27FC236}">
                <a16:creationId xmlns:a16="http://schemas.microsoft.com/office/drawing/2014/main" id="{73A73525-01E5-6A7E-D4D3-F4A5F0573A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765595">
            <a:off x="8240291" y="2179317"/>
            <a:ext cx="2885874" cy="2885874"/>
          </a:xfrm>
          <a:prstGeom prst="rect">
            <a:avLst/>
          </a:prstGeom>
        </p:spPr>
      </p:pic>
      <p:pic>
        <p:nvPicPr>
          <p:cNvPr id="14" name="Graphic 13" descr="Medical with solid fill">
            <a:extLst>
              <a:ext uri="{FF2B5EF4-FFF2-40B4-BE49-F238E27FC236}">
                <a16:creationId xmlns:a16="http://schemas.microsoft.com/office/drawing/2014/main" id="{A09B2326-CD45-E138-755C-7809D07B77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71659" y="-792481"/>
            <a:ext cx="3696595" cy="3696595"/>
          </a:xfrm>
          <a:prstGeom prst="rect">
            <a:avLst/>
          </a:prstGeom>
        </p:spPr>
      </p:pic>
      <p:pic>
        <p:nvPicPr>
          <p:cNvPr id="16" name="Graphic 15" descr="Medicine with solid fill">
            <a:extLst>
              <a:ext uri="{FF2B5EF4-FFF2-40B4-BE49-F238E27FC236}">
                <a16:creationId xmlns:a16="http://schemas.microsoft.com/office/drawing/2014/main" id="{0B49C96A-3214-784B-236D-6FDCE4F8B8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48499" y="4055630"/>
            <a:ext cx="2634730" cy="2634730"/>
          </a:xfrm>
          <a:prstGeom prst="rect">
            <a:avLst/>
          </a:prstGeom>
        </p:spPr>
      </p:pic>
      <p:sp>
        <p:nvSpPr>
          <p:cNvPr id="17" name="TextBox 16">
            <a:extLst>
              <a:ext uri="{FF2B5EF4-FFF2-40B4-BE49-F238E27FC236}">
                <a16:creationId xmlns:a16="http://schemas.microsoft.com/office/drawing/2014/main" id="{4C4FB843-51BE-0C37-17CE-22B3F7BA636C}"/>
              </a:ext>
            </a:extLst>
          </p:cNvPr>
          <p:cNvSpPr txBox="1"/>
          <p:nvPr/>
        </p:nvSpPr>
        <p:spPr>
          <a:xfrm>
            <a:off x="362086" y="806098"/>
            <a:ext cx="4907280" cy="5632311"/>
          </a:xfrm>
          <a:prstGeom prst="rect">
            <a:avLst/>
          </a:prstGeom>
          <a:noFill/>
        </p:spPr>
        <p:txBody>
          <a:bodyPr wrap="square" rtlCol="0">
            <a:spAutoFit/>
          </a:bodyPr>
          <a:lstStyle/>
          <a:p>
            <a:pPr lvl="0"/>
            <a:r>
              <a:rPr lang="en-IN" sz="2000" b="1" dirty="0">
                <a:solidFill>
                  <a:schemeClr val="tx2">
                    <a:lumMod val="75000"/>
                  </a:schemeClr>
                </a:solidFill>
              </a:rPr>
              <a:t>Programming Language: Java</a:t>
            </a:r>
            <a:r>
              <a:rPr lang="en-IN" sz="2000" dirty="0">
                <a:solidFill>
                  <a:schemeClr val="tx2">
                    <a:lumMod val="75000"/>
                  </a:schemeClr>
                </a:solidFill>
              </a:rPr>
              <a:t> — The project was developed using Java. </a:t>
            </a:r>
          </a:p>
          <a:p>
            <a:pPr lvl="0"/>
            <a:r>
              <a:rPr lang="en-IN" sz="2000" b="1" dirty="0">
                <a:solidFill>
                  <a:schemeClr val="tx2">
                    <a:lumMod val="75000"/>
                  </a:schemeClr>
                </a:solidFill>
              </a:rPr>
              <a:t>Input Handling: Scanner</a:t>
            </a:r>
            <a:r>
              <a:rPr lang="en-IN" sz="2000" dirty="0">
                <a:solidFill>
                  <a:schemeClr val="tx2">
                    <a:lumMod val="75000"/>
                  </a:schemeClr>
                </a:solidFill>
              </a:rPr>
              <a:t> — The Scanner class is used to take patient and appointment details from the user. </a:t>
            </a:r>
          </a:p>
          <a:p>
            <a:pPr lvl="0"/>
            <a:r>
              <a:rPr lang="en-IN" sz="2000" b="1" dirty="0">
                <a:solidFill>
                  <a:schemeClr val="tx2">
                    <a:lumMod val="75000"/>
                  </a:schemeClr>
                </a:solidFill>
              </a:rPr>
              <a:t>Development Environment: Visual Studio Code (VS Code)</a:t>
            </a:r>
            <a:r>
              <a:rPr lang="en-IN" sz="2000" dirty="0">
                <a:solidFill>
                  <a:schemeClr val="tx2">
                    <a:lumMod val="75000"/>
                  </a:schemeClr>
                </a:solidFill>
              </a:rPr>
              <a:t> — VS Code was used to write, edit, and run the Java program. </a:t>
            </a:r>
          </a:p>
          <a:p>
            <a:pPr lvl="0"/>
            <a:r>
              <a:rPr lang="en-IN" sz="2000" b="1" dirty="0">
                <a:solidFill>
                  <a:schemeClr val="tx2">
                    <a:lumMod val="75000"/>
                  </a:schemeClr>
                </a:solidFill>
              </a:rPr>
              <a:t>Data Storage: Arrays</a:t>
            </a:r>
            <a:r>
              <a:rPr lang="en-IN" sz="2000" dirty="0">
                <a:solidFill>
                  <a:schemeClr val="tx2">
                    <a:lumMod val="75000"/>
                  </a:schemeClr>
                </a:solidFill>
              </a:rPr>
              <a:t> — Arrays are used to temporarily store patient, appointment, doctor, and prescription information. </a:t>
            </a:r>
          </a:p>
          <a:p>
            <a:pPr lvl="0"/>
            <a:r>
              <a:rPr lang="en-IN" sz="2000" b="1" dirty="0">
                <a:solidFill>
                  <a:schemeClr val="tx2">
                    <a:lumMod val="75000"/>
                  </a:schemeClr>
                </a:solidFill>
              </a:rPr>
              <a:t>Methodology: Modular and Menu-driven Programming</a:t>
            </a:r>
            <a:r>
              <a:rPr lang="en-IN" sz="2000" dirty="0">
                <a:solidFill>
                  <a:schemeClr val="tx2">
                    <a:lumMod val="75000"/>
                  </a:schemeClr>
                </a:solidFill>
              </a:rPr>
              <a:t> — The project is divided into separate methods and uses menus to let the user choose different operations. </a:t>
            </a:r>
          </a:p>
          <a:p>
            <a:pPr lvl="0"/>
            <a:r>
              <a:rPr lang="en-IN" sz="2000" b="1" dirty="0">
                <a:solidFill>
                  <a:schemeClr val="tx2">
                    <a:lumMod val="75000"/>
                  </a:schemeClr>
                </a:solidFill>
              </a:rPr>
              <a:t>Interface: Console-based User Interface</a:t>
            </a:r>
            <a:r>
              <a:rPr lang="en-IN" sz="2000" dirty="0">
                <a:solidFill>
                  <a:schemeClr val="tx2">
                    <a:lumMod val="75000"/>
                  </a:schemeClr>
                </a:solidFill>
              </a:rPr>
              <a:t> — The user interacts with the program through text displayed in the VS Code terminal.</a:t>
            </a:r>
          </a:p>
        </p:txBody>
      </p:sp>
      <p:sp>
        <p:nvSpPr>
          <p:cNvPr id="18" name="TextBox 17">
            <a:extLst>
              <a:ext uri="{FF2B5EF4-FFF2-40B4-BE49-F238E27FC236}">
                <a16:creationId xmlns:a16="http://schemas.microsoft.com/office/drawing/2014/main" id="{83801652-EEBD-E0FB-714D-0414FA2E3144}"/>
              </a:ext>
            </a:extLst>
          </p:cNvPr>
          <p:cNvSpPr txBox="1"/>
          <p:nvPr/>
        </p:nvSpPr>
        <p:spPr>
          <a:xfrm>
            <a:off x="362086" y="74300"/>
            <a:ext cx="2299669" cy="461665"/>
          </a:xfrm>
          <a:prstGeom prst="rect">
            <a:avLst/>
          </a:prstGeom>
          <a:noFill/>
        </p:spPr>
        <p:txBody>
          <a:bodyPr wrap="none" rtlCol="0">
            <a:spAutoFit/>
          </a:bodyPr>
          <a:lstStyle/>
          <a:p>
            <a:r>
              <a:rPr lang="en-US" sz="2400" b="1" dirty="0">
                <a:solidFill>
                  <a:schemeClr val="tx2">
                    <a:lumMod val="75000"/>
                  </a:schemeClr>
                </a:solidFill>
              </a:rPr>
              <a:t>Technology used</a:t>
            </a:r>
            <a:endParaRPr lang="en-IN" sz="2400" b="1" dirty="0">
              <a:solidFill>
                <a:schemeClr val="tx2">
                  <a:lumMod val="75000"/>
                </a:schemeClr>
              </a:solidFill>
            </a:endParaRPr>
          </a:p>
        </p:txBody>
      </p:sp>
      <p:pic>
        <p:nvPicPr>
          <p:cNvPr id="22" name="Picture 21">
            <a:extLst>
              <a:ext uri="{FF2B5EF4-FFF2-40B4-BE49-F238E27FC236}">
                <a16:creationId xmlns:a16="http://schemas.microsoft.com/office/drawing/2014/main" id="{B040D106-B942-6592-AB5D-344C2B35A4B4}"/>
              </a:ext>
            </a:extLst>
          </p:cNvPr>
          <p:cNvPicPr>
            <a:picLocks noChangeAspect="1"/>
          </p:cNvPicPr>
          <p:nvPr/>
        </p:nvPicPr>
        <p:blipFill>
          <a:blip r:embed="rId6"/>
          <a:stretch>
            <a:fillRect/>
          </a:stretch>
        </p:blipFill>
        <p:spPr>
          <a:xfrm>
            <a:off x="10985306" y="-2"/>
            <a:ext cx="1206694" cy="487680"/>
          </a:xfrm>
          <a:prstGeom prst="rect">
            <a:avLst/>
          </a:prstGeom>
        </p:spPr>
      </p:pic>
    </p:spTree>
    <p:extLst>
      <p:ext uri="{BB962C8B-B14F-4D97-AF65-F5344CB8AC3E}">
        <p14:creationId xmlns:p14="http://schemas.microsoft.com/office/powerpoint/2010/main" val="591880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791055" y="0"/>
            <a:ext cx="6400640" cy="6858000"/>
          </a:xfrm>
          <a:custGeom>
            <a:avLst/>
            <a:gdLst/>
            <a:ahLst/>
            <a:cxnLst/>
            <a:rect l="0" t="0" r="100000" b="100000"/>
            <a:pathLst>
              <a:path w="100000" h="100000">
                <a:moveTo>
                  <a:pt x="0" y="0"/>
                </a:moveTo>
                <a:lnTo>
                  <a:pt x="100000" y="0"/>
                </a:lnTo>
                <a:lnTo>
                  <a:pt x="100000" y="100000"/>
                </a:lnTo>
                <a:lnTo>
                  <a:pt x="25000" y="100000"/>
                </a:lnTo>
                <a:close/>
              </a:path>
            </a:pathLst>
          </a:custGeom>
        </p:spPr>
      </p:pic>
      <p:sp>
        <p:nvSpPr>
          <p:cNvPr id="3" name="Text 0"/>
          <p:cNvSpPr/>
          <p:nvPr/>
        </p:nvSpPr>
        <p:spPr>
          <a:xfrm>
            <a:off x="661475" y="2850158"/>
            <a:ext cx="4772898" cy="590649"/>
          </a:xfrm>
          <a:prstGeom prst="rect">
            <a:avLst/>
          </a:prstGeom>
          <a:noFill/>
          <a:ln/>
        </p:spPr>
        <p:txBody>
          <a:bodyPr wrap="none" lIns="0" tIns="0" rIns="0" bIns="0" rtlCol="0" anchor="t"/>
          <a:lstStyle/>
          <a:p>
            <a:pPr marL="0" indent="0" algn="l">
              <a:lnSpc>
                <a:spcPct val="104000"/>
              </a:lnSpc>
              <a:buNone/>
            </a:pPr>
            <a:r>
              <a:rPr lang="en-US" sz="3700" dirty="0">
                <a:solidFill>
                  <a:srgbClr val="2E3C4E"/>
                </a:solidFill>
                <a:latin typeface="Host Grotesk Medium" pitchFamily="34" charset="0"/>
                <a:ea typeface="Host Grotesk Medium" pitchFamily="34" charset="-122"/>
                <a:cs typeface="Host Grotesk Medium" pitchFamily="34" charset="-120"/>
              </a:rPr>
              <a:t>thank you</a:t>
            </a:r>
            <a:endParaRPr lang="en-US" sz="3700" dirty="0"/>
          </a:p>
        </p:txBody>
      </p:sp>
      <p:pic>
        <p:nvPicPr>
          <p:cNvPr id="7" name="Picture 6">
            <a:extLst>
              <a:ext uri="{FF2B5EF4-FFF2-40B4-BE49-F238E27FC236}">
                <a16:creationId xmlns:a16="http://schemas.microsoft.com/office/drawing/2014/main" id="{2F045C29-6159-CBC6-8152-A6188DF173AC}"/>
              </a:ext>
            </a:extLst>
          </p:cNvPr>
          <p:cNvPicPr>
            <a:picLocks noChangeAspect="1"/>
          </p:cNvPicPr>
          <p:nvPr/>
        </p:nvPicPr>
        <p:blipFill>
          <a:blip r:embed="rId4"/>
          <a:stretch>
            <a:fillRect/>
          </a:stretch>
        </p:blipFill>
        <p:spPr>
          <a:xfrm>
            <a:off x="1" y="0"/>
            <a:ext cx="1206694" cy="487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8691</TotalTime>
  <Words>921</Words>
  <Application>Microsoft Office PowerPoint</Application>
  <PresentationFormat>Widescreen</PresentationFormat>
  <Paragraphs>121</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Roboto Bold</vt:lpstr>
      <vt:lpstr>Host Grotesk Medium</vt:lpstr>
      <vt:lpstr>Arial</vt:lpstr>
      <vt:lpstr>Roboto</vt:lpstr>
      <vt:lpstr>Host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parnitha369@outlook.com</cp:lastModifiedBy>
  <cp:revision>8</cp:revision>
  <dcterms:created xsi:type="dcterms:W3CDTF">2026-10-01T02:39:50Z</dcterms:created>
  <dcterms:modified xsi:type="dcterms:W3CDTF">2026-10-07T03:45:39Z</dcterms:modified>
</cp:coreProperties>
</file>